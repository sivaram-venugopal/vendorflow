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project: BookBridge is a web platform that connects readers with independent bookstores - discover books, find nearby stores and compare recorded local prices and stock.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86F"/>
          </a:solidFill>
          <a:ln w="12700">
            <a:solidFill>
              <a:srgbClr val="1D586F"/>
            </a:solidFill>
            <a:prstDash val="solid"/>
          </a:ln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5720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6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SRM EASWARI ENGINEERING COLLEGE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1051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63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(Autonomous)  |  Bharathi Salai, Ramapuram, Chennai - 600 089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2880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58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Information Technology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226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Subject: Full Stack Web Development (FSD)   |   Subject Code: [Subject Code]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834640"/>
            <a:ext cx="9994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 err="1">
                <a:solidFill>
                  <a:srgbClr val="12263A"/>
                </a:solidFill>
                <a:latin typeface="Times New Roman" pitchFamily="34" charset="0"/>
                <a:cs typeface="Times New Roman" pitchFamily="34" charset="-120"/>
              </a:rPr>
              <a:t>VendorFlow</a:t>
            </a:r>
            <a:endParaRPr lang="en-US" sz="3400" dirty="0"/>
          </a:p>
          <a:p>
            <a:pPr algn="ctr"/>
            <a:r>
              <a:rPr lang="en-IN" sz="2800" b="1" dirty="0"/>
              <a:t> ENTERPRISE PROCUREMENT SYSTEM</a:t>
            </a:r>
            <a:endParaRPr lang="en-US" sz="3400" b="1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420624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563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Web-Based Platform Connecting Readers with Independent Bookstores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58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By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6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Sivaram Venugopal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5897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26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Register No: 310624205263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58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To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5486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6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Sai Lakshmi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rPr dirty="0"/>
              <a:t>VENDORFLOW : ENTERPRISE PROCUREMENT SYSTEM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Project Work (Phase-I) — Review 1 &amp; 2  |  Department of Information Technology</a:t>
            </a:r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50"/>
              </a:spcAft>
              <a:buSzPct val="100000"/>
              <a:defRPr sz="1000" b="1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• Project Requirements &amp; Scope Definition</a:t>
            </a:r>
            <a:endParaRPr lang="en-US" sz="1400" dirty="0"/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• Three-Tier System Architecture &amp; Data Flow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• UML Use Case Model &amp; Actor Interactions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• MongoDB Entity-Relationship (ER) Schema Design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• Core Module Breakdown &amp; Role-Based Access Control (RBAC)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• Full MERN Technology Stack &amp; Implementation Frameworks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• UI Design, User Interaction &amp; Process Workflows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• Frontend Component Architecture &amp; Client State Management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• Backend REST API Architecture &amp; FSM Transition Engine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• Database Modeling, Indexing &amp; Collections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• Implementation Status &amp; Module Completion Table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• Live Application Screenshots &amp; Demonstration Slots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• Engineering Challenges Encountered &amp; Solutions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rPr sz="1400" dirty="0"/>
              <a:t>• Future Milestones &amp; Project References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  <a:defRPr sz="950">
                <a:latin typeface="Segoe UI"/>
              </a:defRPr>
            </a:pPr>
            <a:r>
              <a:rPr dirty="0"/>
              <a:t>• Role-Based Access: Secure JWT authentication separating Admin, Buyer, and Vendor access.</a:t>
            </a:r>
            <a:endParaRPr lang="en-US" sz="1350" dirty="0"/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Supplier KYC Onboarding: Automated verification for trade details, PAN, and 15-digit GSTIN.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Dynamic Purchase Order Builder: Real-time calculation of item subtotals and 18% statutory GST.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Strict State Machine (FSM): 8-stage linear workflow (Draft to Closed) with no illegal skipping.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Supplier Performance Scorecard: Automated rating across Quality, Delivery, Price, and Compliance.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Audit Ledger: Append-only event history tracking every action, user ID, and state change.</a:t>
            </a:r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  <a:defRPr sz="950">
                <a:latin typeface="Segoe UI"/>
              </a:defRPr>
            </a:pPr>
            <a:r>
              <a:rPr dirty="0"/>
              <a:t>• Performance: Sub-100ms database response using targeted compound indexes.</a:t>
            </a:r>
            <a:endParaRPr lang="en-US" sz="1350" dirty="0"/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Security: Passwords hashed with </a:t>
            </a:r>
            <a:r>
              <a:rPr dirty="0" err="1"/>
              <a:t>bcrypt</a:t>
            </a:r>
            <a:r>
              <a:rPr dirty="0"/>
              <a:t> (10 rounds); routes protected by Bearer token guards.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Transactional Safety: Strict transition checks prevent out-of-sequence order updates.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Interface Ergonomics: Clean, accessible interface built with Tailwind CSS and responsive components.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High Availability: Cloud-native database hosting on MongoDB Atlas with automatic failover.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Maintainability: Modular MVC code structure separating routes, controllers, and models.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(Detailed)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pic>
        <p:nvPicPr>
          <p:cNvPr id="23" name="Picture 22" descr="figure_4_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71600"/>
            <a:ext cx="100584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Picture 13" descr="use_c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91640"/>
            <a:ext cx="5852160" cy="39319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17320"/>
            <a:ext cx="94183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/ Database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Picture 13" descr="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91640"/>
            <a:ext cx="5852160" cy="39319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17320"/>
            <a:ext cx="97840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Authentication &amp; RBAC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Issues stateless JWT tokens, verifies roles, and hashes passwords via bcrypt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register, login, verifyToken, authorizeRoles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Vendor Onboarding &amp; KYC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Handles supplier registration, tax document checks (PAN &amp; GSTIN), and status approval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createVendor, verifyTaxId, updateVendorStatus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 Lifecycle &amp; FSM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Manages the 8-stage state machine, dynamic line items, and automated 18% GST calculation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createPO, calculateTotals, updatePOStatus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Supplier Scorecard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Evaluates vendors across 4 weighted operational pillars and assigns performance tiers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evaluateSupplier, getVendorRating, updateTier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Audit &amp; Notifications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Maintains an immutable change log and dispatches email alerts at critical milestones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logAuditEvent, sendPODispatchAlert, sendApprovalAlert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00"/>
            </a:pPr>
            <a:r>
              <a:t>MongoDB Atlas: Cloud document database with compound indexing and native JSON/BSON storage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00"/>
            </a:pPr>
            <a:r>
              <a:t>Express.js: Lightweight backend web framework providing modular REST routes and middleware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00"/>
            </a:pPr>
            <a:r>
              <a:t>React 18 / Vite: Fast, component-driven client application with responsive state reactivity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Library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00"/>
            </a:pPr>
            <a:r>
              <a:t>Node.js (v20 LTS): Non-blocking asynchronous runtime executing high-concurrency event loops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325113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  <a:defRPr sz="900"/>
            </a:pPr>
            <a:r>
              <a:rPr sz="1200" dirty="0"/>
              <a:t>• Mongoose (ODM with validation &amp; </a:t>
            </a:r>
            <a:r>
              <a:rPr sz="1200" dirty="0" err="1"/>
              <a:t>virtuals</a:t>
            </a:r>
            <a:r>
              <a:rPr sz="1200" dirty="0"/>
              <a:t>)</a:t>
            </a:r>
            <a:endParaRPr lang="en-US" sz="1200" dirty="0"/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JWT &amp; </a:t>
            </a:r>
            <a:r>
              <a:rPr sz="1200" dirty="0" err="1"/>
              <a:t>bcryptjs</a:t>
            </a:r>
            <a:r>
              <a:rPr sz="1200" dirty="0"/>
              <a:t> (Token auth &amp; 10 salt rounds)</a:t>
            </a:r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Tailwind CSS &amp; </a:t>
            </a:r>
            <a:r>
              <a:rPr sz="1200" dirty="0" err="1"/>
              <a:t>Lucide</a:t>
            </a:r>
            <a:r>
              <a:rPr sz="1200" dirty="0"/>
              <a:t> (Modern UI tokens)</a:t>
            </a:r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</a:t>
            </a:r>
            <a:r>
              <a:rPr sz="1200" dirty="0" err="1"/>
              <a:t>Nodemailer</a:t>
            </a:r>
            <a:r>
              <a:rPr sz="1200" dirty="0"/>
              <a:t> (SMTP email notification engine)</a:t>
            </a:r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Axios (HTTP client with auth interceptors)</a:t>
            </a:r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Postman &amp; Overleaf (API tests &amp; project thesis</a:t>
            </a:r>
            <a:r>
              <a:rPr dirty="0"/>
              <a:t>)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/ Wireframes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Picture 13" descr="figure_4_3_sequenc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91640"/>
            <a:ext cx="5852160" cy="39319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17320"/>
            <a:ext cx="97840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09728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500"/>
              </a:spcAft>
              <a:buSzPct val="100000"/>
              <a:defRPr sz="1050">
                <a:latin typeface="Segoe UI"/>
              </a:defRPr>
            </a:pPr>
            <a:r>
              <a:rPr dirty="0"/>
              <a:t>• Single Page Application: Built with React 18 and Vite for fast builds and immediate Hot Module Replacement.</a:t>
            </a:r>
            <a:endParaRPr lang="en-US" sz="1500" dirty="0"/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Reusable Components: Modular UI components including </a:t>
            </a:r>
            <a:r>
              <a:rPr dirty="0" err="1"/>
              <a:t>POBuilder</a:t>
            </a:r>
            <a:r>
              <a:rPr dirty="0"/>
              <a:t>, </a:t>
            </a:r>
            <a:r>
              <a:rPr dirty="0" err="1"/>
              <a:t>VendorList</a:t>
            </a:r>
            <a:r>
              <a:rPr dirty="0"/>
              <a:t>, </a:t>
            </a:r>
            <a:r>
              <a:rPr dirty="0" err="1"/>
              <a:t>ScorecardCard</a:t>
            </a:r>
            <a:r>
              <a:rPr dirty="0"/>
              <a:t>, and </a:t>
            </a:r>
            <a:r>
              <a:rPr dirty="0" err="1"/>
              <a:t>StateStepper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Live Calculation Hooks: Automatically recalculates line totals, statutory 18% GST, and overall expenditure in real time.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Role-Protected Routes: React Router v6 guards block unauthorized users from accessing pages outside their assigned role.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API Communication: Axios handles API requests with interceptors that attach the JWT token to every outbound header.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Clean Corporate Styling: Tailored with Tailwind CSS using consistent white-and-red design tokens and </a:t>
            </a:r>
            <a:r>
              <a:rPr dirty="0" err="1"/>
              <a:t>Lucide</a:t>
            </a:r>
            <a:r>
              <a:rPr dirty="0"/>
              <a:t> icons.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45720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500"/>
              </a:spcAft>
              <a:buSzPct val="100000"/>
              <a:defRPr sz="1050">
                <a:latin typeface="Segoe UI"/>
              </a:defRPr>
            </a:pPr>
            <a:r>
              <a:rPr lang="en-IN" dirty="0"/>
              <a:t>•</a:t>
            </a:r>
            <a:r>
              <a:rPr dirty="0"/>
              <a:t> MVC Architecture: Node.js and Express server organized into separate routes, controllers, models, and middleware.</a:t>
            </a:r>
            <a:endParaRPr lang="en-US" sz="1500" dirty="0"/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Modular Endpoints: Distinct routers manage authentication, purchase orders, vendor profiles, and audit logging.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Deterministic FSM Engine: Server-side validation table guarantees orders only progress through legal states (Draft to Closed).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Token-Based Security: Generates signed JSON Web Tokens for sessions and salts passwords with </a:t>
            </a:r>
            <a:r>
              <a:rPr dirty="0" err="1"/>
              <a:t>bcrypt</a:t>
            </a:r>
            <a:r>
              <a:rPr dirty="0"/>
              <a:t> (10 rounds).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Route Protection: </a:t>
            </a:r>
            <a:r>
              <a:rPr dirty="0" err="1"/>
              <a:t>verifyToken</a:t>
            </a:r>
            <a:r>
              <a:rPr dirty="0"/>
              <a:t> and </a:t>
            </a:r>
            <a:r>
              <a:rPr dirty="0" err="1"/>
              <a:t>authorizeRoles</a:t>
            </a:r>
            <a:r>
              <a:rPr dirty="0"/>
              <a:t> middleware verify permissions before controllers execute any logic.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Centralized Error Handling: Custom error middleware catches validation issues and returns clear JSON error messages.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45720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500"/>
              </a:spcAft>
              <a:buSzPct val="100000"/>
              <a:defRPr sz="1050">
                <a:latin typeface="Segoe UI"/>
              </a:defRPr>
            </a:pPr>
            <a:r>
              <a:rPr dirty="0"/>
              <a:t>• Cloud-Hosted Database: Runs on MongoDB Atlas, providing automated backups, scalability, and JSON-native BSON storage.</a:t>
            </a:r>
            <a:endParaRPr lang="en-US" sz="1500" dirty="0"/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Mongoose Schemas: Data models defined with schema-level validation for Users, Vendors, </a:t>
            </a:r>
            <a:r>
              <a:rPr dirty="0" err="1"/>
              <a:t>PurchaseOrders</a:t>
            </a:r>
            <a:r>
              <a:rPr dirty="0"/>
              <a:t>, Evaluations, and Logs.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Clear Entity Relationships: Leverages MongoDB </a:t>
            </a:r>
            <a:r>
              <a:rPr dirty="0" err="1"/>
              <a:t>ObjectId</a:t>
            </a:r>
            <a:r>
              <a:rPr dirty="0"/>
              <a:t> references to connect orders with buyers and suppliers cleanly.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Embedded Sub-Documents: Line items and status histories are stored directly inside the order document for atomic updates.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Query Performance: Compound indexes on frequently queried fields like { </a:t>
            </a:r>
            <a:r>
              <a:rPr dirty="0" err="1"/>
              <a:t>vendorId</a:t>
            </a:r>
            <a:r>
              <a:rPr dirty="0"/>
              <a:t>: 1, status: 1 } ensure sub-100ms lookups.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Audit Traceability: Append-only collection logs user IDs, action names, timestamps, and previous/new states for all changes.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200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/api/auth/login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Authenticates user credentials and returns a signed JWT token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/api/orders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Creates a new purchase order with automatic 18% GST calculation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PUT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/api/orders/:id/status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Validates and transitions order state, recording an audit log entry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/api/vendors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Onboards a new supplier with PAN and statutory 15-char GSTIN checks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/api/evaluations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Submits performance scores across 4 pillars and updates the vendor tier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/api/audit-logs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Fetches immutable system audit records filtered by entity or user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Implementation Status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1005840" y="1463040"/>
          <a:ext cx="101498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Functional Module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Implementation Deliverables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Validation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User Authentication &amp; RBAC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Stateless JWT token pipeline, role-based route guards for Admin, Buyer, and 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955D"/>
                          </a:solidFill>
                          <a:latin typeface="Segoe UI"/>
                        </a:defRPr>
                      </a:pPr>
                      <a:r>
                        <a:t>100%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Verified via Postman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Purchase Order Builder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Dynamic line-item creation, real-time subtotal and statutory 18% GST 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955D"/>
                          </a:solidFill>
                          <a:latin typeface="Segoe UI"/>
                        </a:defRPr>
                      </a:pPr>
                      <a:r>
                        <a:t>100%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End-to-End Verified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FSM State Machine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8-stage linear workflow (Draft to Closed) with server-side transition lookup guards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955D"/>
                          </a:solidFill>
                          <a:latin typeface="Segoe UI"/>
                        </a:defRPr>
                      </a:pPr>
                      <a:r>
                        <a:t>100%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Guard Tests 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Supplier KYC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Self-service onboarding modal, PAN and 15-character GSTIN format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90%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Functional in 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Supplier Scorecard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Objective 4-pillar weighted evaluation model with automated tier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90%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Algorithm Verified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Audit &amp; Email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Append-only change ledger with Nodemailer SMTP dispatch for order milestones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70%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SMTP Pipeline 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000" dirty="0"/>
          </a:p>
        </p:txBody>
      </p:sp>
      <p:sp>
        <p:nvSpPr>
          <p:cNvPr id="17" name="Rounded Rectangle 16"/>
          <p:cNvSpPr/>
          <p:nvPr/>
        </p:nvSpPr>
        <p:spPr>
          <a:xfrm>
            <a:off x="800000" y="1500000"/>
            <a:ext cx="5150000" cy="2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0000" y="1580000"/>
            <a:ext cx="491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766E"/>
                </a:solidFill>
                <a:latin typeface="Calibri"/>
              </a:defRPr>
            </a:pPr>
            <a:r>
              <a:t>1. User Authentication &amp; Role Switcher</a:t>
            </a:r>
          </a:p>
        </p:txBody>
      </p:sp>
      <p:pic>
        <p:nvPicPr>
          <p:cNvPr id="19" name="Picture 18" descr="Login 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000" y="1980000"/>
            <a:ext cx="1650000" cy="165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00000" y="2000000"/>
            <a:ext cx="30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E293B"/>
                </a:solidFill>
                <a:latin typeface="Calibri"/>
              </a:defRPr>
            </a:pPr>
            <a:r>
              <a:t>•  Role-Based Access Control: </a:t>
            </a:r>
            <a:r>
              <a:rPr b="0">
                <a:solidFill>
                  <a:srgbClr val="64748B"/>
                </a:solidFill>
              </a:rPr>
              <a:t>Strict isolation between Admin, Buyer &amp; Supplier.</a:t>
            </a:r>
          </a:p>
          <a:p>
            <a:pPr>
              <a:defRPr sz="800" b="1">
                <a:solidFill>
                  <a:srgbClr val="1E293B"/>
                </a:solidFill>
                <a:latin typeface="Calibri"/>
              </a:defRPr>
            </a:pPr>
            <a:r>
              <a:t>• 1-Click Direct Demo Access: </a:t>
            </a:r>
            <a:r>
              <a:rPr b="0">
                <a:solidFill>
                  <a:srgbClr val="64748B"/>
                </a:solidFill>
              </a:rPr>
              <a:t>Instant persona sign-in for faculty review &amp; demo.</a:t>
            </a:r>
          </a:p>
          <a:p>
            <a:pPr>
              <a:defRPr sz="800" b="1">
                <a:solidFill>
                  <a:srgbClr val="1E293B"/>
                </a:solidFill>
                <a:latin typeface="Calibri"/>
              </a:defRPr>
            </a:pPr>
            <a:r>
              <a:t>• Security &amp; Compliance: </a:t>
            </a:r>
            <a:r>
              <a:rPr b="0">
                <a:solidFill>
                  <a:srgbClr val="64748B"/>
                </a:solidFill>
              </a:rPr>
              <a:t>JWT tokens, TLS 1.3 transport &amp; bcrypt encryption.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0000" y="1500000"/>
            <a:ext cx="5150000" cy="2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0000" y="1580000"/>
            <a:ext cx="491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766E"/>
                </a:solidFill>
                <a:latin typeface="Calibri"/>
              </a:defRPr>
            </a:pPr>
            <a:r>
              <a:t>2. Interactive PO Builder &amp; 18% GST Engine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Automated line-item totaling with real-time statutory CGST (9%) + SGST (9%) breakdown</a:t>
            </a:r>
          </a:p>
        </p:txBody>
      </p:sp>
      <p:pic>
        <p:nvPicPr>
          <p:cNvPr id="23" name="Picture 22" descr="PO Calc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257" y="1980000"/>
            <a:ext cx="3205485" cy="17400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00000" y="3900000"/>
            <a:ext cx="5150000" cy="2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0000" y="3980000"/>
            <a:ext cx="491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766E"/>
                </a:solidFill>
                <a:latin typeface="Calibri"/>
              </a:defRPr>
            </a:pPr>
            <a:r>
              <a:t>3. Enterprise Purchase Order Governance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Live order lifecycle tracking, state transitions (Issued, Acknowledged, Closed) &amp; approvals</a:t>
            </a:r>
          </a:p>
        </p:txBody>
      </p:sp>
      <p:pic>
        <p:nvPicPr>
          <p:cNvPr id="26" name="Picture 25" descr="KYC Approv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0075" y="4380000"/>
            <a:ext cx="3609850" cy="174000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240000" y="3900000"/>
            <a:ext cx="5150000" cy="2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60000" y="3980000"/>
            <a:ext cx="491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766E"/>
                </a:solidFill>
                <a:latin typeface="Calibri"/>
              </a:defRPr>
            </a:pPr>
            <a:r>
              <a:t>4. Dynamic 4-Pillar Scorecard &amp; Radar Trends</a:t>
            </a:r>
          </a:p>
          <a:p>
            <a:pPr>
              <a:defRPr sz="750">
                <a:solidFill>
                  <a:srgbClr val="64748B"/>
                </a:solidFill>
                <a:latin typeface="Calibri"/>
              </a:defRPr>
            </a:pPr>
            <a:r>
              <a:t>Composite supplier rating across Quality (35%), Delivery (30%), Pricing (20%), Compliance (15%)</a:t>
            </a:r>
          </a:p>
        </p:txBody>
      </p:sp>
      <p:pic>
        <p:nvPicPr>
          <p:cNvPr id="29" name="Picture 28" descr="Supplier Score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2632" y="4380000"/>
            <a:ext cx="3464736" cy="174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Adopted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Preventing unauthorized order state leaps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Enforced a server-side finite state machine dictionary that strictly blocks invalid transitions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Accurate real-time tax calculation during drafting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Implemented custom React hooks to compute item subtotals and 18% GST synchronously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Eliminating subjective vendor performance reviews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Formulated an objective weighted scorecard combining Quality (35%), Delivery (30%), Price (20%), and Compliance (15%)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Aligning frontend form data with Mongoose schemas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Normalized property names (vendorId, deliveryDate) across client DTOs and server validators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 &amp; Plan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59436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600"/>
              </a:spcAft>
              <a:buSzPct val="100000"/>
              <a:defRPr sz="1050">
                <a:latin typeface="Segoe UI"/>
              </a:defRPr>
            </a:pPr>
            <a:r>
              <a:rPr sz="1200" dirty="0"/>
              <a:t>• Automated OCR Invoice Matching: Integrate Tesseract / Document AI to extract data from uploaded invoice PDFs and verify three-way matching against purchase orders.</a:t>
            </a:r>
            <a:endParaRPr lang="en-US" sz="1200" dirty="0"/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sz="1200" dirty="0"/>
              <a:t>• Real-Time </a:t>
            </a:r>
            <a:r>
              <a:rPr sz="1200" dirty="0" err="1"/>
              <a:t>WebSockets</a:t>
            </a:r>
            <a:r>
              <a:rPr sz="1200" dirty="0"/>
              <a:t>: Connect client and server via Socket.io for instantaneous alerts when an order is approved or acknowledged, avoiding manual refreshes.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sz="1200" dirty="0"/>
              <a:t>• Banking &amp; Payment Integration: Implement corporate payment webhooks to automate disbursements once goods receipts and invoices are reconciled.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sz="1200" dirty="0"/>
              <a:t>• Predictive Spend Analytics: Add lightweight forecasting models to help procurement buyers anticipate seasonal demand and negotiate bulk discounts.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sz="1200" dirty="0"/>
              <a:t>• Cloud Production Deployment: Deploy the React frontend to </a:t>
            </a:r>
            <a:r>
              <a:rPr sz="1200" dirty="0" err="1"/>
              <a:t>Vercel</a:t>
            </a:r>
            <a:r>
              <a:rPr sz="1200" dirty="0"/>
              <a:t> and the Express backend to Render, backed by a production MongoDB Atlas cluster.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Chopra, S., &amp; Meindl, P. (2016). Supply Chain Management: Strategy, Planning, and Operation, 6th ed., Pearson Education.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Monczka, R. M., et al. (2020). Purchasing and Supply Chain Management, 7th ed., Cengage Learning, Boston.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Fowler, M. (2018). Patterns of Enterprise Application Architecture, Addison-Wesley Professional.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Goods and Services Tax Network (GSTN), Ministry of Finance, Govt of India (2023). Standard Operating Procedures for Invoicing.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1798</Words>
  <Application>Microsoft Office PowerPoint</Application>
  <PresentationFormat>Widescreen</PresentationFormat>
  <Paragraphs>255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Sivaram v</cp:lastModifiedBy>
  <cp:revision>5</cp:revision>
  <dcterms:created xsi:type="dcterms:W3CDTF">2026-09-22T17:17:28Z</dcterms:created>
  <dcterms:modified xsi:type="dcterms:W3CDTF">2026-10-14T05:23:10Z</dcterms:modified>
</cp:coreProperties>
</file>