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9"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F771EE-C662-AEDB-6E2C-7B57222E86B5}"/>
              </a:ext>
            </a:extLst>
          </p:cNvPr>
          <p:cNvSpPr txBox="1"/>
          <p:nvPr/>
        </p:nvSpPr>
        <p:spPr>
          <a:xfrm>
            <a:off x="1130300" y="482600"/>
            <a:ext cx="11315700" cy="769441"/>
          </a:xfrm>
          <a:prstGeom prst="rect">
            <a:avLst/>
          </a:prstGeom>
          <a:noFill/>
        </p:spPr>
        <p:txBody>
          <a:bodyPr wrap="square" rtlCol="0">
            <a:spAutoFit/>
          </a:bodyPr>
          <a:lstStyle/>
          <a:p>
            <a:pPr algn="ctr"/>
            <a:r>
              <a:rPr lang="en-US" sz="4400" b="1">
                <a:solidFill>
                  <a:srgbClr val="C00000"/>
                </a:solidFill>
                <a:latin typeface="Bell MT" panose="02020503060305020303" pitchFamily="18" charset="0"/>
              </a:rPr>
              <a:t>EASWARI ENGINEERING COLLEGE</a:t>
            </a:r>
            <a:endParaRPr lang="en-IN" sz="4400" b="1">
              <a:solidFill>
                <a:srgbClr val="C00000"/>
              </a:solidFill>
              <a:latin typeface="Bell MT" panose="02020503060305020303" pitchFamily="18" charset="0"/>
            </a:endParaRPr>
          </a:p>
        </p:txBody>
      </p:sp>
      <p:pic>
        <p:nvPicPr>
          <p:cNvPr id="4" name="Picture 3">
            <a:extLst>
              <a:ext uri="{FF2B5EF4-FFF2-40B4-BE49-F238E27FC236}">
                <a16:creationId xmlns:a16="http://schemas.microsoft.com/office/drawing/2014/main" id="{0AE8B899-0DD7-B14A-29F0-D35FEDABF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482600"/>
            <a:ext cx="1714500" cy="1714500"/>
          </a:xfrm>
          <a:prstGeom prst="rect">
            <a:avLst/>
          </a:prstGeom>
        </p:spPr>
      </p:pic>
      <p:sp>
        <p:nvSpPr>
          <p:cNvPr id="5" name="TextBox 4">
            <a:extLst>
              <a:ext uri="{FF2B5EF4-FFF2-40B4-BE49-F238E27FC236}">
                <a16:creationId xmlns:a16="http://schemas.microsoft.com/office/drawing/2014/main" id="{C5D33E45-EF83-253A-AB7A-5B15B9231C61}"/>
              </a:ext>
            </a:extLst>
          </p:cNvPr>
          <p:cNvSpPr txBox="1"/>
          <p:nvPr/>
        </p:nvSpPr>
        <p:spPr>
          <a:xfrm>
            <a:off x="0" y="1109017"/>
            <a:ext cx="12192000" cy="461665"/>
          </a:xfrm>
          <a:prstGeom prst="rect">
            <a:avLst/>
          </a:prstGeom>
          <a:noFill/>
        </p:spPr>
        <p:txBody>
          <a:bodyPr wrap="square" rtlCol="0">
            <a:spAutoFit/>
          </a:bodyPr>
          <a:lstStyle/>
          <a:p>
            <a:pPr algn="ctr"/>
            <a:r>
              <a:rPr lang="en-US" b="1"/>
              <a:t>(</a:t>
            </a:r>
            <a:r>
              <a:rPr lang="en-US" sz="2400" b="1" err="1">
                <a:solidFill>
                  <a:srgbClr val="C00000"/>
                </a:solidFill>
              </a:rPr>
              <a:t>Autonomus</a:t>
            </a:r>
            <a:r>
              <a:rPr lang="en-US" sz="2400" b="1">
                <a:solidFill>
                  <a:srgbClr val="C00000"/>
                </a:solidFill>
              </a:rPr>
              <a:t>)</a:t>
            </a:r>
            <a:endParaRPr lang="en-IN" sz="2400" b="1">
              <a:solidFill>
                <a:srgbClr val="C00000"/>
              </a:solidFill>
            </a:endParaRPr>
          </a:p>
        </p:txBody>
      </p:sp>
      <p:sp>
        <p:nvSpPr>
          <p:cNvPr id="6" name="TextBox 5">
            <a:extLst>
              <a:ext uri="{FF2B5EF4-FFF2-40B4-BE49-F238E27FC236}">
                <a16:creationId xmlns:a16="http://schemas.microsoft.com/office/drawing/2014/main" id="{13CA6374-663B-8F95-3DF4-6980E00AEB7F}"/>
              </a:ext>
            </a:extLst>
          </p:cNvPr>
          <p:cNvSpPr txBox="1"/>
          <p:nvPr/>
        </p:nvSpPr>
        <p:spPr>
          <a:xfrm>
            <a:off x="0" y="1570682"/>
            <a:ext cx="12192000" cy="369332"/>
          </a:xfrm>
          <a:prstGeom prst="rect">
            <a:avLst/>
          </a:prstGeom>
          <a:noFill/>
        </p:spPr>
        <p:txBody>
          <a:bodyPr wrap="square" rtlCol="0">
            <a:spAutoFit/>
          </a:bodyPr>
          <a:lstStyle/>
          <a:p>
            <a:pPr algn="ctr"/>
            <a:r>
              <a:rPr lang="en-US" b="1"/>
              <a:t>Bharathi Salai ,</a:t>
            </a:r>
            <a:r>
              <a:rPr lang="en-US" b="1" err="1"/>
              <a:t>Ramapuram</a:t>
            </a:r>
            <a:r>
              <a:rPr lang="en-US" b="1"/>
              <a:t>, Chennai -600 089</a:t>
            </a:r>
            <a:endParaRPr lang="en-IN" b="1"/>
          </a:p>
        </p:txBody>
      </p:sp>
      <p:sp>
        <p:nvSpPr>
          <p:cNvPr id="7" name="TextBox 6">
            <a:extLst>
              <a:ext uri="{FF2B5EF4-FFF2-40B4-BE49-F238E27FC236}">
                <a16:creationId xmlns:a16="http://schemas.microsoft.com/office/drawing/2014/main" id="{07F6037F-2669-0631-D8FB-BB5E87CA5ECD}"/>
              </a:ext>
            </a:extLst>
          </p:cNvPr>
          <p:cNvSpPr txBox="1"/>
          <p:nvPr/>
        </p:nvSpPr>
        <p:spPr>
          <a:xfrm>
            <a:off x="-91440" y="2506597"/>
            <a:ext cx="12192000" cy="1077218"/>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INFORMATION TECHNOLOGY</a:t>
            </a:r>
          </a:p>
          <a:p>
            <a:pPr algn="ctr"/>
            <a:endParaRPr lang="en-US" sz="3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946FC5D-BF4F-E460-3EEE-391DF49B001A}"/>
              </a:ext>
            </a:extLst>
          </p:cNvPr>
          <p:cNvSpPr txBox="1"/>
          <p:nvPr/>
        </p:nvSpPr>
        <p:spPr>
          <a:xfrm>
            <a:off x="0" y="3960062"/>
            <a:ext cx="5084064" cy="461665"/>
          </a:xfrm>
          <a:prstGeom prst="rect">
            <a:avLst/>
          </a:prstGeom>
          <a:noFill/>
        </p:spPr>
        <p:txBody>
          <a:bodyPr wrap="square" rtlCol="0">
            <a:spAutoFit/>
          </a:bodyPr>
          <a:lstStyle/>
          <a:p>
            <a:pPr algn="ctr"/>
            <a:r>
              <a:rPr lang="en-US" sz="2400" b="1">
                <a:latin typeface="Times New Roman" panose="02020603050405020304" pitchFamily="18" charset="0"/>
                <a:cs typeface="Times New Roman" panose="02020603050405020304" pitchFamily="18" charset="0"/>
              </a:rPr>
              <a:t>PRESENTED BY</a:t>
            </a:r>
            <a:endParaRPr lang="en-IN" sz="2400" b="1">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B742EC7-7E23-21B7-68D8-47F81CE16F2B}"/>
              </a:ext>
            </a:extLst>
          </p:cNvPr>
          <p:cNvSpPr txBox="1"/>
          <p:nvPr/>
        </p:nvSpPr>
        <p:spPr>
          <a:xfrm flipH="1">
            <a:off x="7371080" y="3960061"/>
            <a:ext cx="5074920" cy="461665"/>
          </a:xfrm>
          <a:prstGeom prst="rect">
            <a:avLst/>
          </a:prstGeom>
          <a:noFill/>
        </p:spPr>
        <p:txBody>
          <a:bodyPr wrap="square" rtlCol="0">
            <a:spAutoFit/>
          </a:bodyPr>
          <a:lstStyle/>
          <a:p>
            <a:pPr algn="ctr"/>
            <a:r>
              <a:rPr lang="en-US" sz="2400" b="1">
                <a:latin typeface="Times New Roman" panose="02020603050405020304" pitchFamily="18" charset="0"/>
                <a:cs typeface="Times New Roman" panose="02020603050405020304" pitchFamily="18" charset="0"/>
              </a:rPr>
              <a:t>GUIDE NAME</a:t>
            </a:r>
            <a:endParaRPr lang="en-IN" sz="2400"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AA4EC4D-7AA6-6A3A-0173-BE88ED5646D4}"/>
              </a:ext>
            </a:extLst>
          </p:cNvPr>
          <p:cNvSpPr txBox="1"/>
          <p:nvPr/>
        </p:nvSpPr>
        <p:spPr>
          <a:xfrm>
            <a:off x="256032" y="4608576"/>
            <a:ext cx="45720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SIVARAM VENUGOPAL  (310624205263)</a:t>
            </a:r>
            <a:endParaRPr lang="en-IN"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4FDF8DD-EEC7-00F3-C1E0-1D1C9DD01865}"/>
              </a:ext>
            </a:extLst>
          </p:cNvPr>
          <p:cNvSpPr txBox="1"/>
          <p:nvPr/>
        </p:nvSpPr>
        <p:spPr>
          <a:xfrm>
            <a:off x="8221472" y="4608576"/>
            <a:ext cx="3374136" cy="369332"/>
          </a:xfrm>
          <a:prstGeom prst="rect">
            <a:avLst/>
          </a:prstGeom>
          <a:noFill/>
        </p:spPr>
        <p:txBody>
          <a:bodyPr wrap="square" rtlCol="0">
            <a:spAutoFit/>
          </a:bodyPr>
          <a:lstStyle/>
          <a:p>
            <a:pPr algn="ctr"/>
            <a:r>
              <a:rPr lang="en-US" b="1">
                <a:latin typeface="Times New Roman" panose="02020603050405020304" pitchFamily="18" charset="0"/>
                <a:cs typeface="Times New Roman" panose="02020603050405020304" pitchFamily="18" charset="0"/>
              </a:rPr>
              <a:t>SAI LAKSHMI</a:t>
            </a:r>
            <a:endParaRPr lang="en-IN"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6811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CONTENTS :</a:t>
            </a:r>
          </a:p>
        </p:txBody>
      </p:sp>
      <p:sp>
        <p:nvSpPr>
          <p:cNvPr id="3" name="Rectangle 2"/>
          <p:cNvSpPr/>
          <p:nvPr/>
        </p:nvSpPr>
        <p:spPr>
          <a:xfrm>
            <a:off x="548640" y="1097280"/>
            <a:ext cx="2011680"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645920"/>
            <a:ext cx="9144000" cy="4572000"/>
          </a:xfrm>
          <a:prstGeom prst="rect">
            <a:avLst/>
          </a:prstGeom>
          <a:noFill/>
        </p:spPr>
        <p:txBody>
          <a:bodyPr wrap="square">
            <a:spAutoFit/>
          </a:bodyPr>
          <a:lstStyle/>
          <a:p>
            <a:pPr>
              <a:spcAft>
                <a:spcPts val="1000"/>
              </a:spcAft>
              <a:defRPr sz="2000">
                <a:solidFill>
                  <a:srgbClr val="282828"/>
                </a:solidFill>
              </a:defRPr>
            </a:pPr>
            <a:r>
              <a:t>o  Title</a:t>
            </a:r>
          </a:p>
          <a:p>
            <a:pPr>
              <a:spcAft>
                <a:spcPts val="1000"/>
              </a:spcAft>
              <a:defRPr sz="2000">
                <a:solidFill>
                  <a:srgbClr val="282828"/>
                </a:solidFill>
              </a:defRPr>
            </a:pPr>
            <a:r>
              <a:t>o  Abstract</a:t>
            </a:r>
          </a:p>
          <a:p>
            <a:pPr>
              <a:spcAft>
                <a:spcPts val="1000"/>
              </a:spcAft>
              <a:defRPr sz="2000">
                <a:solidFill>
                  <a:srgbClr val="282828"/>
                </a:solidFill>
              </a:defRPr>
            </a:pPr>
            <a:r>
              <a:t>o  Introduction</a:t>
            </a:r>
          </a:p>
          <a:p>
            <a:pPr>
              <a:spcAft>
                <a:spcPts val="1000"/>
              </a:spcAft>
              <a:defRPr sz="2000">
                <a:solidFill>
                  <a:srgbClr val="282828"/>
                </a:solidFill>
              </a:defRPr>
            </a:pPr>
            <a:r>
              <a:t>o  Literature survey</a:t>
            </a:r>
          </a:p>
          <a:p>
            <a:pPr>
              <a:spcAft>
                <a:spcPts val="1000"/>
              </a:spcAft>
              <a:defRPr sz="2000">
                <a:solidFill>
                  <a:srgbClr val="282828"/>
                </a:solidFill>
              </a:defRPr>
            </a:pPr>
            <a:r>
              <a:t>o  Existing system and Disadvantages</a:t>
            </a:r>
          </a:p>
          <a:p>
            <a:pPr>
              <a:spcAft>
                <a:spcPts val="1000"/>
              </a:spcAft>
              <a:defRPr sz="2000">
                <a:solidFill>
                  <a:srgbClr val="282828"/>
                </a:solidFill>
              </a:defRPr>
            </a:pPr>
            <a:r>
              <a:t>o  Proposed system and Advantages</a:t>
            </a:r>
          </a:p>
          <a:p>
            <a:pPr>
              <a:spcAft>
                <a:spcPts val="1000"/>
              </a:spcAft>
              <a:defRPr sz="2000">
                <a:solidFill>
                  <a:srgbClr val="282828"/>
                </a:solidFill>
              </a:defRPr>
            </a:pPr>
            <a:r>
              <a:t>o  System requirements</a:t>
            </a:r>
          </a:p>
          <a:p>
            <a:pPr>
              <a:spcAft>
                <a:spcPts val="1000"/>
              </a:spcAft>
              <a:defRPr sz="2000">
                <a:solidFill>
                  <a:srgbClr val="282828"/>
                </a:solidFill>
              </a:defRPr>
            </a:pPr>
            <a:r>
              <a:t>o  System Architecture</a:t>
            </a:r>
          </a:p>
          <a:p>
            <a:pPr>
              <a:spcAft>
                <a:spcPts val="1000"/>
              </a:spcAft>
              <a:defRPr sz="2000">
                <a:solidFill>
                  <a:srgbClr val="282828"/>
                </a:solidFill>
              </a:defRPr>
            </a:pPr>
            <a:r>
              <a:t>o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ABSTRACT</a:t>
            </a:r>
          </a:p>
        </p:txBody>
      </p:sp>
      <p:sp>
        <p:nvSpPr>
          <p:cNvPr id="3" name="Rectangle 2"/>
          <p:cNvSpPr/>
          <p:nvPr/>
        </p:nvSpPr>
        <p:spPr>
          <a:xfrm>
            <a:off x="548640" y="1097280"/>
            <a:ext cx="1609344"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10362895" cy="4572000"/>
          </a:xfrm>
          <a:prstGeom prst="rect">
            <a:avLst/>
          </a:prstGeom>
          <a:noFill/>
        </p:spPr>
        <p:txBody>
          <a:bodyPr wrap="square">
            <a:spAutoFit/>
          </a:bodyPr>
          <a:lstStyle/>
          <a:p>
            <a:pPr>
              <a:defRPr sz="2100">
                <a:solidFill>
                  <a:srgbClr val="282828"/>
                </a:solidFill>
              </a:defRPr>
            </a:pPr>
            <a:r>
              <a:t>Organizations that depend on external suppliers still manage vendors mostly through spreadsheets, email threads, and paper-based purchase orders, which makes onboarding slow and vendor performance difficult to track objectively. This project, VendorFlow, proposes a web-based Vendor Management System built on the MERN stack (MongoDB, Express.js, React.js, Node.js) that digitizes the complete procurement workflow within one role-based platform. Administrators onboard and verify vendors through a document-approval workflow, evaluate suppliers using a configurable KPI-driven scorecard (quality, delivery, pricing, compliance), and manage the full purchase order lifecycle from creation to closure. Vendors use a dedicated portal to submit documents, track ratings, and acknowledge purchase orders in real time, replacing manual coordination with an auditable, centralized workflow.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INTRODUCTION</a:t>
            </a:r>
          </a:p>
        </p:txBody>
      </p:sp>
      <p:sp>
        <p:nvSpPr>
          <p:cNvPr id="3" name="Rectangle 2"/>
          <p:cNvSpPr/>
          <p:nvPr/>
        </p:nvSpPr>
        <p:spPr>
          <a:xfrm>
            <a:off x="548640" y="1097280"/>
            <a:ext cx="2414016"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10362895" cy="4572000"/>
          </a:xfrm>
          <a:prstGeom prst="rect">
            <a:avLst/>
          </a:prstGeom>
          <a:noFill/>
        </p:spPr>
        <p:txBody>
          <a:bodyPr wrap="square">
            <a:spAutoFit/>
          </a:bodyPr>
          <a:lstStyle/>
          <a:p>
            <a:pPr>
              <a:defRPr sz="2100">
                <a:solidFill>
                  <a:srgbClr val="282828"/>
                </a:solidFill>
              </a:defRPr>
            </a:pPr>
            <a:r>
              <a:t>This project aims to build an efficient, web-based Vendor Management System that addresses the inefficiency and lack of transparency in manual procurement workflows. Traditional vendor coordination, carried out through spreadsheets, email approvals, and paper documents, is slow, error-prone, and reliant on individual memory rather than consistent data. As a supplier base grows, this becomes increasingly difficult to audit and scale. By leveraging the MERN stack (MongoDB, Express.js, React.js, Node.js), this project explores the design of a role-based portal covering vendor onboarding, KPI-driven performance evaluation, and full purchase order lifecycle tracking, giving buyers and vendors a shared, real-time source of truth. This project, VendorFlow, contributes a lightweight, open, and extensible alternative to heavyweight commercial procurement suites, promoting faster onboarding, fairer vendor evaluation, and complete order traceability.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LITERATURE SURVEY :</a:t>
            </a:r>
          </a:p>
        </p:txBody>
      </p:sp>
      <p:sp>
        <p:nvSpPr>
          <p:cNvPr id="3" name="Rectangle 2"/>
          <p:cNvSpPr/>
          <p:nvPr/>
        </p:nvSpPr>
        <p:spPr>
          <a:xfrm>
            <a:off x="548640" y="1097280"/>
            <a:ext cx="3822191"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728655" cy="4754880"/>
        </p:xfrm>
        <a:graphic>
          <a:graphicData uri="http://schemas.openxmlformats.org/drawingml/2006/table">
            <a:tbl>
              <a:tblPr firstRow="1" bandRow="1">
                <a:tableStyleId>{5C22544A-7EE6-4342-B048-85BDC9FD1C3A}</a:tableStyleId>
              </a:tblPr>
              <a:tblGrid>
                <a:gridCol w="2145731">
                  <a:extLst>
                    <a:ext uri="{9D8B030D-6E8A-4147-A177-3AD203B41FA5}">
                      <a16:colId xmlns:a16="http://schemas.microsoft.com/office/drawing/2014/main" val="20000"/>
                    </a:ext>
                  </a:extLst>
                </a:gridCol>
                <a:gridCol w="2145731">
                  <a:extLst>
                    <a:ext uri="{9D8B030D-6E8A-4147-A177-3AD203B41FA5}">
                      <a16:colId xmlns:a16="http://schemas.microsoft.com/office/drawing/2014/main" val="20001"/>
                    </a:ext>
                  </a:extLst>
                </a:gridCol>
                <a:gridCol w="2145731">
                  <a:extLst>
                    <a:ext uri="{9D8B030D-6E8A-4147-A177-3AD203B41FA5}">
                      <a16:colId xmlns:a16="http://schemas.microsoft.com/office/drawing/2014/main" val="20002"/>
                    </a:ext>
                  </a:extLst>
                </a:gridCol>
                <a:gridCol w="2145731">
                  <a:extLst>
                    <a:ext uri="{9D8B030D-6E8A-4147-A177-3AD203B41FA5}">
                      <a16:colId xmlns:a16="http://schemas.microsoft.com/office/drawing/2014/main" val="20003"/>
                    </a:ext>
                  </a:extLst>
                </a:gridCol>
                <a:gridCol w="2145731">
                  <a:extLst>
                    <a:ext uri="{9D8B030D-6E8A-4147-A177-3AD203B41FA5}">
                      <a16:colId xmlns:a16="http://schemas.microsoft.com/office/drawing/2014/main" val="20004"/>
                    </a:ext>
                  </a:extLst>
                </a:gridCol>
              </a:tblGrid>
              <a:tr h="1188720">
                <a:tc>
                  <a:txBody>
                    <a:bodyPr/>
                    <a:lstStyle/>
                    <a:p>
                      <a:pPr>
                        <a:defRPr sz="1500" b="1"/>
                      </a:pPr>
                      <a:r>
                        <a:t>AUTHOR</a:t>
                      </a:r>
                    </a:p>
                  </a:txBody>
                  <a:tcPr/>
                </a:tc>
                <a:tc>
                  <a:txBody>
                    <a:bodyPr/>
                    <a:lstStyle/>
                    <a:p>
                      <a:pPr>
                        <a:defRPr sz="1500" b="1"/>
                      </a:pPr>
                      <a:r>
                        <a:t>YEAR OF</a:t>
                      </a:r>
                    </a:p>
                    <a:p>
                      <a:pPr>
                        <a:defRPr sz="1500" b="1"/>
                      </a:pPr>
                      <a:r>
                        <a:t>PUBLICATION</a:t>
                      </a:r>
                    </a:p>
                  </a:txBody>
                  <a:tcPr/>
                </a:tc>
                <a:tc>
                  <a:txBody>
                    <a:bodyPr/>
                    <a:lstStyle/>
                    <a:p>
                      <a:pPr>
                        <a:defRPr sz="1500" b="1"/>
                      </a:pPr>
                      <a:r>
                        <a:t>DESCRIPTION</a:t>
                      </a:r>
                    </a:p>
                  </a:txBody>
                  <a:tcPr/>
                </a:tc>
                <a:tc>
                  <a:txBody>
                    <a:bodyPr/>
                    <a:lstStyle/>
                    <a:p>
                      <a:pPr>
                        <a:defRPr sz="1500" b="1"/>
                      </a:pPr>
                      <a:r>
                        <a:t>PROS</a:t>
                      </a:r>
                    </a:p>
                  </a:txBody>
                  <a:tcPr/>
                </a:tc>
                <a:tc>
                  <a:txBody>
                    <a:bodyPr/>
                    <a:lstStyle/>
                    <a:p>
                      <a:pPr>
                        <a:defRPr sz="1500" b="1"/>
                      </a:pPr>
                      <a:r>
                        <a:t>CONS</a:t>
                      </a:r>
                    </a:p>
                  </a:txBody>
                  <a:tcPr/>
                </a:tc>
                <a:extLst>
                  <a:ext uri="{0D108BD9-81ED-4DB2-BD59-A6C34878D82A}">
                    <a16:rowId xmlns:a16="http://schemas.microsoft.com/office/drawing/2014/main" val="10000"/>
                  </a:ext>
                </a:extLst>
              </a:tr>
              <a:tr h="1188720">
                <a:tc>
                  <a:txBody>
                    <a:bodyPr/>
                    <a:lstStyle/>
                    <a:p>
                      <a:pPr>
                        <a:defRPr sz="1400"/>
                      </a:pPr>
                      <a:r>
                        <a:t>Bahri et al.</a:t>
                      </a:r>
                    </a:p>
                  </a:txBody>
                  <a:tcPr/>
                </a:tc>
                <a:tc>
                  <a:txBody>
                    <a:bodyPr/>
                    <a:lstStyle/>
                    <a:p>
                      <a:pPr>
                        <a:defRPr sz="1400"/>
                      </a:pPr>
                      <a:r>
                        <a:t>2013</a:t>
                      </a:r>
                    </a:p>
                  </a:txBody>
                  <a:tcPr/>
                </a:tc>
                <a:tc>
                  <a:txBody>
                    <a:bodyPr/>
                    <a:lstStyle/>
                    <a:p>
                      <a:pPr>
                        <a:defRPr sz="1400"/>
                      </a:pPr>
                      <a:r>
                        <a:t>Examined the factors that attract vendors to participate in an e-procurement platform.</a:t>
                      </a:r>
                    </a:p>
                  </a:txBody>
                  <a:tcPr/>
                </a:tc>
                <a:tc>
                  <a:txBody>
                    <a:bodyPr/>
                    <a:lstStyle/>
                    <a:p>
                      <a:pPr>
                        <a:defRPr sz="1400"/>
                      </a:pPr>
                      <a:r>
                        <a:t>Highlights vendor-side adoption factors often ignored by buyer-only systems.</a:t>
                      </a:r>
                    </a:p>
                  </a:txBody>
                  <a:tcPr/>
                </a:tc>
                <a:tc>
                  <a:txBody>
                    <a:bodyPr/>
                    <a:lstStyle/>
                    <a:p>
                      <a:pPr>
                        <a:defRPr sz="1400"/>
                      </a:pPr>
                      <a:r>
                        <a:t>Focused on adoption behavior rather than a concrete system implementation.</a:t>
                      </a:r>
                    </a:p>
                  </a:txBody>
                  <a:tcPr/>
                </a:tc>
                <a:extLst>
                  <a:ext uri="{0D108BD9-81ED-4DB2-BD59-A6C34878D82A}">
                    <a16:rowId xmlns:a16="http://schemas.microsoft.com/office/drawing/2014/main" val="10001"/>
                  </a:ext>
                </a:extLst>
              </a:tr>
              <a:tr h="1188720">
                <a:tc>
                  <a:txBody>
                    <a:bodyPr/>
                    <a:lstStyle/>
                    <a:p>
                      <a:pPr>
                        <a:defRPr sz="1400"/>
                      </a:pPr>
                      <a:r>
                        <a:t>Morris et al.</a:t>
                      </a:r>
                    </a:p>
                  </a:txBody>
                  <a:tcPr/>
                </a:tc>
                <a:tc>
                  <a:txBody>
                    <a:bodyPr/>
                    <a:lstStyle/>
                    <a:p>
                      <a:pPr>
                        <a:defRPr sz="1400"/>
                      </a:pPr>
                      <a:r>
                        <a:t>2008</a:t>
                      </a:r>
                    </a:p>
                  </a:txBody>
                  <a:tcPr/>
                </a:tc>
                <a:tc>
                  <a:txBody>
                    <a:bodyPr/>
                    <a:lstStyle/>
                    <a:p>
                      <a:pPr>
                        <a:defRPr sz="1400"/>
                      </a:pPr>
                      <a:r>
                        <a:t>Proposed a supplier performance evaluation solution combining subjective and objective KPIs.</a:t>
                      </a:r>
                    </a:p>
                  </a:txBody>
                  <a:tcPr/>
                </a:tc>
                <a:tc>
                  <a:txBody>
                    <a:bodyPr/>
                    <a:lstStyle/>
                    <a:p>
                      <a:pPr>
                        <a:defRPr sz="1400"/>
                      </a:pPr>
                      <a:r>
                        <a:t>Introduced multi-criteria scoring later adapted for VendorFlow's evaluation module.</a:t>
                      </a:r>
                    </a:p>
                  </a:txBody>
                  <a:tcPr/>
                </a:tc>
                <a:tc>
                  <a:txBody>
                    <a:bodyPr/>
                    <a:lstStyle/>
                    <a:p>
                      <a:pPr>
                        <a:defRPr sz="1400"/>
                      </a:pPr>
                      <a:r>
                        <a:t>Designed for large enterprises; not directly deployable by smaller teams.</a:t>
                      </a:r>
                    </a:p>
                  </a:txBody>
                  <a:tcPr/>
                </a:tc>
                <a:extLst>
                  <a:ext uri="{0D108BD9-81ED-4DB2-BD59-A6C34878D82A}">
                    <a16:rowId xmlns:a16="http://schemas.microsoft.com/office/drawing/2014/main" val="10002"/>
                  </a:ext>
                </a:extLst>
              </a:tr>
              <a:tr h="1188720">
                <a:tc>
                  <a:txBody>
                    <a:bodyPr/>
                    <a:lstStyle/>
                    <a:p>
                      <a:pPr>
                        <a:defRPr sz="1400"/>
                      </a:pPr>
                      <a:r>
                        <a:t>Zoho Creator</a:t>
                      </a:r>
                    </a:p>
                  </a:txBody>
                  <a:tcPr/>
                </a:tc>
                <a:tc>
                  <a:txBody>
                    <a:bodyPr/>
                    <a:lstStyle/>
                    <a:p>
                      <a:pPr>
                        <a:defRPr sz="1400"/>
                      </a:pPr>
                      <a:r>
                        <a:t>2024</a:t>
                      </a:r>
                    </a:p>
                  </a:txBody>
                  <a:tcPr/>
                </a:tc>
                <a:tc>
                  <a:txBody>
                    <a:bodyPr/>
                    <a:lstStyle/>
                    <a:p>
                      <a:pPr>
                        <a:defRPr sz="1400"/>
                      </a:pPr>
                      <a:r>
                        <a:t>Surveyed modern VMS platforms centralizing onboarding, contracts, and KPI-based monitoring.</a:t>
                      </a:r>
                    </a:p>
                  </a:txBody>
                  <a:tcPr/>
                </a:tc>
                <a:tc>
                  <a:txBody>
                    <a:bodyPr/>
                    <a:lstStyle/>
                    <a:p>
                      <a:pPr>
                        <a:defRPr sz="1400"/>
                      </a:pPr>
                      <a:r>
                        <a:t>Confirms current industry alignment of VendorFlow's chosen module set.</a:t>
                      </a:r>
                    </a:p>
                  </a:txBody>
                  <a:tcPr/>
                </a:tc>
                <a:tc>
                  <a:txBody>
                    <a:bodyPr/>
                    <a:lstStyle/>
                    <a:p>
                      <a:pPr>
                        <a:defRPr sz="1400"/>
                      </a:pPr>
                      <a:r>
                        <a:t>Industry-oriented; lacks peer-reviewed academic rigor.</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EXISTING SYSTEM :</a:t>
            </a:r>
          </a:p>
        </p:txBody>
      </p:sp>
      <p:sp>
        <p:nvSpPr>
          <p:cNvPr id="3" name="Rectangle 2"/>
          <p:cNvSpPr/>
          <p:nvPr/>
        </p:nvSpPr>
        <p:spPr>
          <a:xfrm>
            <a:off x="548640" y="1097280"/>
            <a:ext cx="3419856"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463040"/>
            <a:ext cx="10362895" cy="4937760"/>
          </a:xfrm>
          <a:prstGeom prst="rect">
            <a:avLst/>
          </a:prstGeom>
          <a:noFill/>
        </p:spPr>
        <p:txBody>
          <a:bodyPr wrap="square">
            <a:spAutoFit/>
          </a:bodyPr>
          <a:lstStyle/>
          <a:p>
            <a:pPr>
              <a:defRPr sz="1900"/>
            </a:pPr>
            <a:r>
              <a:t>Vendor management today is largely manual, relying on spreadsheets, email approvals, and paper-based purchase orders. Legacy on-premise ERP procurement modules exist but are rigid and expensive to customize, while commercial e-procurement suites solve the problem at a cost few small teams can justify.</a:t>
            </a:r>
            <a:br/>
            <a:endParaRPr/>
          </a:p>
          <a:p>
            <a:pPr>
              <a:defRPr sz="1900"/>
            </a:pPr>
            <a:r>
              <a:t>A number of common legacy approaches are used:</a:t>
            </a:r>
            <a:br/>
            <a:endParaRPr/>
          </a:p>
          <a:p>
            <a:pPr>
              <a:spcAft>
                <a:spcPts val="1000"/>
              </a:spcAft>
            </a:pPr>
            <a:r>
              <a:rPr sz="1800" b="1"/>
              <a:t>° Manual Spreadsheet Tracking - </a:t>
            </a:r>
            <a:r>
              <a:rPr sz="1800"/>
              <a:t>Vendor records, documents, and historical evaluation scores are kept in Excel sheets with no validation or automated workflow.</a:t>
            </a:r>
          </a:p>
          <a:p>
            <a:pPr>
              <a:spcAft>
                <a:spcPts val="1000"/>
              </a:spcAft>
            </a:pPr>
            <a:r>
              <a:rPr sz="1800" b="1"/>
              <a:t>° Email-Driven Approvals - </a:t>
            </a:r>
            <a:r>
              <a:rPr sz="1800"/>
              <a:t>PO approvals and vendor document verification happen through email threads with no centralized status tracking or audit trail.</a:t>
            </a:r>
          </a:p>
          <a:p>
            <a:pPr>
              <a:spcAft>
                <a:spcPts val="1000"/>
              </a:spcAft>
            </a:pPr>
            <a:r>
              <a:rPr sz="1800" b="1"/>
              <a:t>° Legacy ERP &amp; Heavyweight Suites - </a:t>
            </a:r>
            <a:r>
              <a:rPr sz="1800"/>
              <a:t>On-premise ERP modules and commercial suites (e.g., SAP Ariba, Coupa) work but are costly, rigid, and slow to configure for smaller teams.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DISADVANTAGES :</a:t>
            </a:r>
          </a:p>
        </p:txBody>
      </p:sp>
      <p:sp>
        <p:nvSpPr>
          <p:cNvPr id="3" name="Rectangle 2"/>
          <p:cNvSpPr/>
          <p:nvPr/>
        </p:nvSpPr>
        <p:spPr>
          <a:xfrm>
            <a:off x="548640" y="1097280"/>
            <a:ext cx="3017520"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10362895" cy="4572000"/>
          </a:xfrm>
          <a:prstGeom prst="rect">
            <a:avLst/>
          </a:prstGeom>
          <a:noFill/>
        </p:spPr>
        <p:txBody>
          <a:bodyPr wrap="square">
            <a:spAutoFit/>
          </a:bodyPr>
          <a:lstStyle/>
          <a:p>
            <a:pPr>
              <a:spcAft>
                <a:spcPts val="1400"/>
              </a:spcAft>
            </a:pPr>
            <a:r>
              <a:rPr sz="1900" b="1"/>
              <a:t>1.No Single Source of Truth - </a:t>
            </a:r>
            <a:r>
              <a:rPr sz="1900"/>
              <a:t>Vendor data, evaluation scores, and PO status are scattered across spreadsheets, inboxes, and paper files, making status checks slow and error-prone.</a:t>
            </a:r>
          </a:p>
          <a:p>
            <a:pPr>
              <a:spcAft>
                <a:spcPts val="1400"/>
              </a:spcAft>
            </a:pPr>
            <a:r>
              <a:rPr sz="1900" b="1"/>
              <a:t>2.Subjective Vendor Evaluation - </a:t>
            </a:r>
            <a:r>
              <a:rPr sz="1900"/>
              <a:t>Ratings are often based on individual memory or opinion rather than consistent, weighted KPIs, making sourcing decisions inconsistent.</a:t>
            </a:r>
          </a:p>
          <a:p>
            <a:pPr>
              <a:spcAft>
                <a:spcPts val="1400"/>
              </a:spcAft>
            </a:pPr>
            <a:r>
              <a:rPr sz="1900" b="1"/>
              <a:t>3.Poor Vendor Visibility - </a:t>
            </a:r>
            <a:r>
              <a:rPr sz="1900"/>
              <a:t>Suppliers have no self-service way to check onboarding status or track a purchase order, and must call or email and wait.</a:t>
            </a:r>
          </a:p>
          <a:p>
            <a:pPr>
              <a:spcAft>
                <a:spcPts val="1400"/>
              </a:spcAft>
            </a:pPr>
            <a:r>
              <a:rPr sz="1900" b="1"/>
              <a:t>4.High Cost of Enterprise Alternatives - </a:t>
            </a:r>
            <a:r>
              <a:rPr sz="1900"/>
              <a:t>Full ERP/e-procurement suites (SAP Ariba, Coupa) are often too expensive or complex for smaller teams to adopt.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PROPOSED SYSTEM :</a:t>
            </a:r>
          </a:p>
        </p:txBody>
      </p:sp>
      <p:sp>
        <p:nvSpPr>
          <p:cNvPr id="3" name="Rectangle 2"/>
          <p:cNvSpPr/>
          <p:nvPr/>
        </p:nvSpPr>
        <p:spPr>
          <a:xfrm>
            <a:off x="548640" y="1097280"/>
            <a:ext cx="3419856"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10362895" cy="4572000"/>
          </a:xfrm>
          <a:prstGeom prst="rect">
            <a:avLst/>
          </a:prstGeom>
          <a:noFill/>
        </p:spPr>
        <p:txBody>
          <a:bodyPr wrap="square">
            <a:spAutoFit/>
          </a:bodyPr>
          <a:lstStyle/>
          <a:p>
            <a:pPr>
              <a:spcAft>
                <a:spcPts val="1600"/>
              </a:spcAft>
              <a:defRPr sz="2000"/>
            </a:pPr>
            <a:r>
              <a:t>•  The proposed system, VendorFlow, integrates vendor onboarding, KPI-based evaluation, and purchase order lifecycle tracking into a single MERN-stack web application with role-based access for Admins, Procurement Officers, and Vendors.</a:t>
            </a:r>
          </a:p>
          <a:p>
            <a:pPr>
              <a:spcAft>
                <a:spcPts val="1600"/>
              </a:spcAft>
              <a:defRPr sz="2000"/>
            </a:pPr>
            <a:r>
              <a:t>•  A configurable, weighted scorecard (quality, delivery timeliness, pricing, compliance) replaces manual ratings, while a status-driven PO workflow (Draft -&gt; Approved -&gt; Delivered -&gt; Invoiced -&gt; Closed) gives full visibility to every stakeholder.</a:t>
            </a:r>
          </a:p>
          <a:p>
            <a:pPr>
              <a:spcAft>
                <a:spcPts val="1600"/>
              </a:spcAft>
              <a:defRPr sz="2000"/>
            </a:pPr>
            <a:r>
              <a:t>•  Built entirely on open-source JavaScript technologies (MongoDB, Express.js, React.js, Node.js), the system is automated, auditable, and far more affordable to deploy and extend than commercial procurement suites.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ADVANTAGES :</a:t>
            </a:r>
          </a:p>
        </p:txBody>
      </p:sp>
      <p:sp>
        <p:nvSpPr>
          <p:cNvPr id="3" name="Rectangle 2"/>
          <p:cNvSpPr/>
          <p:nvPr/>
        </p:nvSpPr>
        <p:spPr>
          <a:xfrm>
            <a:off x="548640" y="1097280"/>
            <a:ext cx="2414016"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10362895" cy="4572000"/>
          </a:xfrm>
          <a:prstGeom prst="rect">
            <a:avLst/>
          </a:prstGeom>
          <a:noFill/>
        </p:spPr>
        <p:txBody>
          <a:bodyPr wrap="square">
            <a:spAutoFit/>
          </a:bodyPr>
          <a:lstStyle/>
          <a:p>
            <a:pPr>
              <a:spcAft>
                <a:spcPts val="1400"/>
              </a:spcAft>
            </a:pPr>
            <a:r>
              <a:rPr sz="1900" b="1"/>
              <a:t>1.Single Source of Truth - </a:t>
            </a:r>
            <a:r>
              <a:rPr sz="1900"/>
              <a:t>All vendor, evaluation, and PO data lives in one MongoDB-backed application accessible to every authorized role.</a:t>
            </a:r>
          </a:p>
          <a:p>
            <a:pPr>
              <a:spcAft>
                <a:spcPts val="1400"/>
              </a:spcAft>
            </a:pPr>
            <a:r>
              <a:rPr sz="1900" b="1"/>
              <a:t>2.Objective, Data-Driven Evaluation - </a:t>
            </a:r>
            <a:r>
              <a:rPr sz="1900"/>
              <a:t>Weighted KPI scoring replaces ad-hoc ratings, supporting fairer, auditable sourcing decisions.</a:t>
            </a:r>
          </a:p>
          <a:p>
            <a:pPr>
              <a:spcAft>
                <a:spcPts val="1400"/>
              </a:spcAft>
            </a:pPr>
            <a:r>
              <a:rPr sz="1900" b="1"/>
              <a:t>3.Full Vendor Transparency - </a:t>
            </a:r>
            <a:r>
              <a:rPr sz="1900"/>
              <a:t>A dedicated vendor portal shows onboarding status, evaluation history, and live PO tracking in real time.</a:t>
            </a:r>
          </a:p>
          <a:p>
            <a:pPr>
              <a:spcAft>
                <a:spcPts val="1400"/>
              </a:spcAft>
            </a:pPr>
            <a:r>
              <a:rPr sz="1900" b="1"/>
              <a:t>4.Cost-Effective &amp; Scalable - </a:t>
            </a:r>
            <a:r>
              <a:rPr sz="1900"/>
              <a:t>Built on open-source MERN technologies, making it inexpensive to deploy, host, and extend versus commercial VMS suites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SYSTEM REQUIREMENTS &amp; SPECIFICATIONS</a:t>
            </a:r>
          </a:p>
        </p:txBody>
      </p:sp>
      <p:sp>
        <p:nvSpPr>
          <p:cNvPr id="3" name="Rectangle 2"/>
          <p:cNvSpPr/>
          <p:nvPr/>
        </p:nvSpPr>
        <p:spPr>
          <a:xfrm>
            <a:off x="548640" y="1097280"/>
            <a:ext cx="7242048"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728655" cy="5029200"/>
          </a:xfrm>
          <a:prstGeom prst="rect">
            <a:avLst/>
          </a:prstGeom>
          <a:noFill/>
        </p:spPr>
        <p:txBody>
          <a:bodyPr wrap="square">
            <a:spAutoFit/>
          </a:bodyPr>
          <a:lstStyle/>
          <a:p>
            <a:pPr>
              <a:defRPr sz="2000" b="1"/>
            </a:pPr>
            <a:r>
              <a:t>HARDWARE SPECIFICATIONS:</a:t>
            </a:r>
            <a:br/>
            <a:endParaRPr/>
          </a:p>
          <a:p>
            <a:r>
              <a:rPr sz="1800" b="1"/>
              <a:t>    PROCESSOR                 :   </a:t>
            </a:r>
            <a:r>
              <a:rPr sz="1800"/>
              <a:t>Intel Core i5 (8th Gen) or Higher</a:t>
            </a:r>
          </a:p>
          <a:p>
            <a:r>
              <a:rPr sz="1800" b="1"/>
              <a:t>    RAM                       :   </a:t>
            </a:r>
            <a:r>
              <a:rPr sz="1800"/>
              <a:t>8 GB (16 GB Recommended)</a:t>
            </a:r>
          </a:p>
          <a:p>
            <a:r>
              <a:rPr sz="1800" b="1"/>
              <a:t>    HARD DISK                 :   </a:t>
            </a:r>
            <a:r>
              <a:rPr sz="1800"/>
              <a:t>10 GB Free Space (SSD Recommended)</a:t>
            </a:r>
          </a:p>
          <a:p>
            <a:r>
              <a:rPr sz="1800" b="1"/>
              <a:t>    INPUT DEVICE              :   </a:t>
            </a:r>
            <a:r>
              <a:rPr sz="1800"/>
              <a:t>Standard Keyboard &amp; Mouse</a:t>
            </a:r>
          </a:p>
          <a:p>
            <a:r>
              <a:rPr sz="1800" b="1"/>
              <a:t>    MONITOR                   :   </a:t>
            </a:r>
            <a:r>
              <a:rPr sz="1800"/>
              <a:t>Minimum Resolution 1920*1080</a:t>
            </a:r>
          </a:p>
          <a:p>
            <a:br/>
            <a:r>
              <a:t>SOFTWARE SPECIFICATIONS:</a:t>
            </a:r>
            <a:br/>
            <a:endParaRPr/>
          </a:p>
          <a:p>
            <a:r>
              <a:rPr sz="1800" b="1"/>
              <a:t>    OPERATING SYSTEM                    :   </a:t>
            </a:r>
            <a:r>
              <a:rPr sz="1800"/>
              <a:t>Windows / Linux / macOS</a:t>
            </a:r>
          </a:p>
          <a:p>
            <a:r>
              <a:rPr sz="1800" b="1"/>
              <a:t>    PROGRAMMING LANGUAGE &amp; VERSION      :   </a:t>
            </a:r>
            <a:r>
              <a:rPr sz="1800"/>
              <a:t>JavaScript (ES6+), Node.js LTS</a:t>
            </a:r>
          </a:p>
          <a:p>
            <a:r>
              <a:rPr sz="1800" b="1"/>
              <a:t>    PLATFORM                            :   </a:t>
            </a:r>
            <a:r>
              <a:rPr sz="1800"/>
              <a:t>MERN Stack (Full JS Stack)</a:t>
            </a:r>
          </a:p>
          <a:p>
            <a:r>
              <a:rPr sz="1800" b="1"/>
              <a:t>    SUPPORTING LIBRARIES                :   </a:t>
            </a:r>
            <a:r>
              <a:rPr sz="1800"/>
              <a:t>Mongoose, JWT, Redux, Axios, Tailwind, Multer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SYSTEM ARCHITECTURE :</a:t>
            </a:r>
          </a:p>
        </p:txBody>
      </p:sp>
      <p:sp>
        <p:nvSpPr>
          <p:cNvPr id="3" name="Rectangle 2"/>
          <p:cNvSpPr/>
          <p:nvPr/>
        </p:nvSpPr>
        <p:spPr>
          <a:xfrm>
            <a:off x="548640" y="1097280"/>
            <a:ext cx="4224528"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280160"/>
            <a:ext cx="2011680" cy="3749039"/>
          </a:xfrm>
          <a:prstGeom prst="roundRect">
            <a:avLst/>
          </a:prstGeom>
          <a:solidFill>
            <a:srgbClr val="E6F2FF"/>
          </a:solidFill>
          <a:ln w="25400">
            <a:solidFill>
              <a:srgbClr val="468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E1E1E"/>
                </a:solidFill>
              </a:defRPr>
            </a:pPr>
            <a:r>
              <a:t>PRESENTATION TIER</a:t>
            </a:r>
            <a:br/>
            <a:br/>
            <a:r>
              <a:t>React.js SPA</a:t>
            </a:r>
            <a:br/>
            <a:r>
              <a:t>Vendor Portal</a:t>
            </a:r>
            <a:br/>
            <a:r>
              <a:t>Buyer Dashboard</a:t>
            </a:r>
            <a:br/>
            <a:r>
              <a:t>Admin Console</a:t>
            </a:r>
          </a:p>
        </p:txBody>
      </p:sp>
      <p:sp>
        <p:nvSpPr>
          <p:cNvPr id="5" name="Rounded Rectangle 4"/>
          <p:cNvSpPr/>
          <p:nvPr/>
        </p:nvSpPr>
        <p:spPr>
          <a:xfrm>
            <a:off x="2697480" y="1280160"/>
            <a:ext cx="2011680" cy="3749039"/>
          </a:xfrm>
          <a:prstGeom prst="roundRect">
            <a:avLst/>
          </a:prstGeom>
          <a:solidFill>
            <a:srgbClr val="FFF8DC"/>
          </a:solidFill>
          <a:ln w="25400">
            <a:solidFill>
              <a:srgbClr val="D2A0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E1E1E"/>
                </a:solidFill>
              </a:defRPr>
            </a:pPr>
            <a:r>
              <a:t>APPLICATION TIER</a:t>
            </a:r>
            <a:br/>
            <a:br/>
            <a:r>
              <a:t>Node.js + Express.js</a:t>
            </a:r>
            <a:br/>
            <a:r>
              <a:t>JWT Auth / RBAC</a:t>
            </a:r>
            <a:br/>
            <a:r>
              <a:t>Validation Middleware</a:t>
            </a:r>
            <a:br/>
            <a:r>
              <a:t>REST Controllers</a:t>
            </a:r>
          </a:p>
        </p:txBody>
      </p:sp>
      <p:sp>
        <p:nvSpPr>
          <p:cNvPr id="6" name="Rounded Rectangle 5"/>
          <p:cNvSpPr/>
          <p:nvPr/>
        </p:nvSpPr>
        <p:spPr>
          <a:xfrm>
            <a:off x="4937760" y="1280160"/>
            <a:ext cx="2011680" cy="3749039"/>
          </a:xfrm>
          <a:prstGeom prst="roundRect">
            <a:avLst/>
          </a:prstGeom>
          <a:solidFill>
            <a:srgbClr val="E6FAEB"/>
          </a:solidFill>
          <a:ln w="25400">
            <a:solidFill>
              <a:srgbClr val="32A0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E1E1E"/>
                </a:solidFill>
              </a:defRPr>
            </a:pPr>
            <a:r>
              <a:t>MIDDLE SERVICES</a:t>
            </a:r>
            <a:br/>
            <a:br/>
            <a:r>
              <a:t>Vendor Onboarding &amp; KYC</a:t>
            </a:r>
            <a:br/>
            <a:br/>
            <a:r>
              <a:t>Vendor Evaluation &amp; Scorecard</a:t>
            </a:r>
            <a:br/>
            <a:br/>
            <a:r>
              <a:t>PO Lifecycle Management</a:t>
            </a:r>
            <a:br/>
            <a:br/>
            <a:r>
              <a:t>Notification &amp; Audit Log</a:t>
            </a:r>
          </a:p>
        </p:txBody>
      </p:sp>
      <p:sp>
        <p:nvSpPr>
          <p:cNvPr id="7" name="Rounded Rectangle 6"/>
          <p:cNvSpPr/>
          <p:nvPr/>
        </p:nvSpPr>
        <p:spPr>
          <a:xfrm>
            <a:off x="7178040" y="1280160"/>
            <a:ext cx="2011680" cy="3749039"/>
          </a:xfrm>
          <a:prstGeom prst="roundRect">
            <a:avLst/>
          </a:prstGeom>
          <a:solidFill>
            <a:srgbClr val="FFEBF2"/>
          </a:solidFill>
          <a:ln w="25400">
            <a:solidFill>
              <a:srgbClr val="BE467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E1E1E"/>
                </a:solidFill>
              </a:defRPr>
            </a:pPr>
            <a:r>
              <a:t>DATA &amp; STORAGE</a:t>
            </a:r>
            <a:br/>
            <a:br/>
            <a:r>
              <a:t>DATA TIER</a:t>
            </a:r>
            <a:br/>
            <a:r>
              <a:t>MongoDB Atlas</a:t>
            </a:r>
            <a:br/>
            <a:r>
              <a:t>(vendors, evaluations, POs, audit_logs)</a:t>
            </a:r>
            <a:br/>
            <a:br/>
            <a:r>
              <a:t>FILE STORAGE</a:t>
            </a:r>
            <a:br/>
            <a:r>
              <a:t>AWS S3 / Cloudinary</a:t>
            </a:r>
            <a:br/>
            <a:r>
              <a:t>(vendor documents)</a:t>
            </a:r>
          </a:p>
        </p:txBody>
      </p:sp>
      <p:sp>
        <p:nvSpPr>
          <p:cNvPr id="8" name="Rounded Rectangle 7"/>
          <p:cNvSpPr/>
          <p:nvPr/>
        </p:nvSpPr>
        <p:spPr>
          <a:xfrm>
            <a:off x="9418320" y="1280160"/>
            <a:ext cx="2011680" cy="3749039"/>
          </a:xfrm>
          <a:prstGeom prst="roundRect">
            <a:avLst/>
          </a:prstGeom>
          <a:solidFill>
            <a:srgbClr val="F2F2F8"/>
          </a:solidFill>
          <a:ln w="25400">
            <a:solidFill>
              <a:srgbClr val="6E6E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E1E1E"/>
                </a:solidFill>
              </a:defRPr>
            </a:pPr>
            <a:r>
              <a:t>EXTERNAL SERVICES</a:t>
            </a:r>
            <a:br/>
            <a:br/>
            <a:r>
              <a:t>Third-Party APIs</a:t>
            </a:r>
            <a:br/>
            <a:r>
              <a:t>Email / SMS Gateway</a:t>
            </a:r>
            <a:br/>
            <a:r>
              <a:t>GST-PAN Verification</a:t>
            </a:r>
            <a:br/>
            <a:r>
              <a:t>Analytics &amp; Reporting</a:t>
            </a:r>
          </a:p>
        </p:txBody>
      </p:sp>
      <p:sp>
        <p:nvSpPr>
          <p:cNvPr id="9" name="Rounded Rectangle 8"/>
          <p:cNvSpPr/>
          <p:nvPr/>
        </p:nvSpPr>
        <p:spPr>
          <a:xfrm>
            <a:off x="457200" y="5120640"/>
            <a:ext cx="11277295" cy="1463040"/>
          </a:xfrm>
          <a:prstGeom prst="roundRect">
            <a:avLst/>
          </a:prstGeom>
          <a:solidFill>
            <a:srgbClr val="FFFFFF"/>
          </a:solidFill>
          <a:ln w="25400">
            <a:solidFill>
              <a:srgbClr val="60554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60554D"/>
                </a:solidFill>
              </a:defRPr>
            </a:pPr>
            <a:r>
              <a:t>REAL-LIFE PROCUREMENT WORKFLOW &amp; DATA EXECUTION LIFECYCLE EXAMPLE:</a:t>
            </a:r>
          </a:p>
          <a:p>
            <a:pPr>
              <a:spcBef>
                <a:spcPts val="800"/>
              </a:spcBef>
              <a:defRPr sz="1300">
                <a:solidFill>
                  <a:srgbClr val="323232"/>
                </a:solidFill>
              </a:defRPr>
            </a:pPr>
            <a:r>
              <a:t>[1. Supplier Onboarding &amp; Doc Upload] -&gt; [2. Express API Auth &amp; RBAC Check] -&gt; [3. Onboarding &amp; GST Verify Service] -&gt; [4. Save to MongoDB Atlas &amp; AWS S3] -&gt; [5. Real-time Email/SMS Alert to Buyer Admin]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0E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058400" cy="731520"/>
          </a:xfrm>
          <a:prstGeom prst="rect">
            <a:avLst/>
          </a:prstGeom>
          <a:noFill/>
        </p:spPr>
        <p:txBody>
          <a:bodyPr wrap="square">
            <a:spAutoFit/>
          </a:bodyPr>
          <a:lstStyle/>
          <a:p>
            <a:pPr>
              <a:defRPr sz="2800" b="1">
                <a:solidFill>
                  <a:srgbClr val="60554D"/>
                </a:solidFill>
                <a:latin typeface="Segoe UI"/>
              </a:defRPr>
            </a:pPr>
            <a:r>
              <a:t>REFERENCES :</a:t>
            </a:r>
          </a:p>
        </p:txBody>
      </p:sp>
      <p:sp>
        <p:nvSpPr>
          <p:cNvPr id="3" name="Rectangle 2"/>
          <p:cNvSpPr/>
          <p:nvPr/>
        </p:nvSpPr>
        <p:spPr>
          <a:xfrm>
            <a:off x="548640" y="1097280"/>
            <a:ext cx="2414016" cy="36576"/>
          </a:xfrm>
          <a:prstGeom prst="rect">
            <a:avLst/>
          </a:prstGeom>
          <a:solidFill>
            <a:srgbClr val="A0968C"/>
          </a:solidFill>
          <a:ln>
            <a:solidFill>
              <a:srgbClr val="A0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645920"/>
            <a:ext cx="10362895" cy="4572000"/>
          </a:xfrm>
          <a:prstGeom prst="rect">
            <a:avLst/>
          </a:prstGeom>
          <a:noFill/>
        </p:spPr>
        <p:txBody>
          <a:bodyPr wrap="square">
            <a:spAutoFit/>
          </a:bodyPr>
          <a:lstStyle/>
          <a:p>
            <a:pPr>
              <a:spcAft>
                <a:spcPts val="1400"/>
              </a:spcAft>
              <a:defRPr sz="1800"/>
            </a:pPr>
            <a:r>
              <a:t>▪  Bahri, S., Mahzan, N., &amp; Kong, L. C. (2013). Determining the factors that attract vendors to participate in an e-procurement system. International Journal of Procurement Management, 6(4). [IJPM]</a:t>
            </a:r>
          </a:p>
          <a:p>
            <a:pPr>
              <a:spcAft>
                <a:spcPts val="1400"/>
              </a:spcAft>
              <a:defRPr sz="1800"/>
            </a:pPr>
            <a:r>
              <a:t>▪  Morris, H., Liao, H., et al. (2008). A supplier performance evaluation solution. Proceedings of IEEE ICEBE.</a:t>
            </a:r>
          </a:p>
          <a:p>
            <a:pPr>
              <a:spcAft>
                <a:spcPts val="1400"/>
              </a:spcAft>
              <a:defRPr sz="1800"/>
            </a:pPr>
            <a:r>
              <a:t>▪  Integration assessment of supplier performance systems. (2019). IOP Conf. Series: Materials Science and Engineering, 598.</a:t>
            </a:r>
          </a:p>
          <a:p>
            <a:pPr>
              <a:spcAft>
                <a:spcPts val="1400"/>
              </a:spcAft>
              <a:defRPr sz="1800"/>
            </a:pPr>
            <a:r>
              <a:t>▪  Instituto Politécnico de Lisboa. E-procurement and business process management: The Vortal case study.</a:t>
            </a:r>
          </a:p>
          <a:p>
            <a:pPr>
              <a:spcAft>
                <a:spcPts val="1400"/>
              </a:spcAft>
              <a:defRPr sz="1800"/>
            </a:pPr>
            <a:r>
              <a:t>▪  Zoho Creator. What is a vendor management system? Industry analysis of VMS features (2024).</a:t>
            </a:r>
          </a:p>
          <a:p>
            <a:pPr>
              <a:spcAft>
                <a:spcPts val="1400"/>
              </a:spcAft>
              <a:defRPr sz="1800"/>
            </a:pPr>
            <a:r>
              <a:t>▪  MongoDB, Inc. MongoDB Manual — Schema Design and Data Modeling.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1420</Words>
  <Application>Microsoft Office PowerPoint</Application>
  <PresentationFormat>Widescreen</PresentationFormat>
  <Paragraphs>91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Bell MT</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Sivaram v</cp:lastModifiedBy>
  <cp:revision>2</cp:revision>
  <dcterms:created xsi:type="dcterms:W3CDTF">2013-01-27T09:14:16Z</dcterms:created>
  <dcterms:modified xsi:type="dcterms:W3CDTF">2026-09-15T03:17:10Z</dcterms:modified>
  <cp:category/>
</cp:coreProperties>
</file>