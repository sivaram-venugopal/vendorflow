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F771EE-C662-AEDB-6E2C-7B57222E86B5}"/>
              </a:ext>
            </a:extLst>
          </p:cNvPr>
          <p:cNvSpPr txBox="1"/>
          <p:nvPr/>
        </p:nvSpPr>
        <p:spPr>
          <a:xfrm>
            <a:off x="1130300" y="482600"/>
            <a:ext cx="11315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  <a:latin typeface="Bell MT" panose="02020503060305020303" pitchFamily="18" charset="0"/>
              </a:rPr>
              <a:t>EASWARI ENGINEERING COLLEGE</a:t>
            </a:r>
            <a:endParaRPr lang="en-IN" sz="4400" b="1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8B899-0DD7-B14A-29F0-D35FEDABF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482600"/>
            <a:ext cx="1714500" cy="1714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D33E45-EF83-253A-AB7A-5B15B9231C61}"/>
              </a:ext>
            </a:extLst>
          </p:cNvPr>
          <p:cNvSpPr txBox="1"/>
          <p:nvPr/>
        </p:nvSpPr>
        <p:spPr>
          <a:xfrm>
            <a:off x="0" y="110901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(</a:t>
            </a:r>
            <a:r>
              <a:rPr lang="en-US" sz="2400" b="1" err="1">
                <a:solidFill>
                  <a:srgbClr val="C00000"/>
                </a:solidFill>
              </a:rPr>
              <a:t>Autonomus</a:t>
            </a:r>
            <a:r>
              <a:rPr lang="en-US" sz="2400" b="1">
                <a:solidFill>
                  <a:srgbClr val="C00000"/>
                </a:solidFill>
              </a:rPr>
              <a:t>)</a:t>
            </a:r>
            <a:endParaRPr lang="en-IN" sz="2400" b="1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A6374-663B-8F95-3DF4-6980E00AEB7F}"/>
              </a:ext>
            </a:extLst>
          </p:cNvPr>
          <p:cNvSpPr txBox="1"/>
          <p:nvPr/>
        </p:nvSpPr>
        <p:spPr>
          <a:xfrm>
            <a:off x="0" y="157068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Bharathi Salai ,</a:t>
            </a:r>
            <a:r>
              <a:rPr lang="en-US" b="1" err="1"/>
              <a:t>Ramapuram</a:t>
            </a:r>
            <a:r>
              <a:rPr lang="en-US" b="1"/>
              <a:t>, Chennai -600 089</a:t>
            </a:r>
            <a:endParaRPr lang="en-I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6037F-2669-0631-D8FB-BB5E87CA5ECD}"/>
              </a:ext>
            </a:extLst>
          </p:cNvPr>
          <p:cNvSpPr txBox="1"/>
          <p:nvPr/>
        </p:nvSpPr>
        <p:spPr>
          <a:xfrm>
            <a:off x="-91440" y="2506597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800" b="1">
                <a:latin typeface="Segoe UI"/>
              </a:defRPr>
            </a:pPr>
            <a:r>
              <a:t>DEPARTMENT OF INFORMATION TECHNOLOGY</a:t>
            </a:r>
          </a:p>
          <a:p>
            <a:pPr algn="ctr">
              <a:defRPr sz="1400" b="1">
                <a:solidFill>
                  <a:srgbClr val="A0968C"/>
                </a:solidFill>
                <a:latin typeface="Segoe UI"/>
              </a:defRPr>
            </a:pPr>
            <a:r>
              <a:t>PROJECT WORK (PHASE-I) - 1st REVIEW</a:t>
            </a:r>
          </a:p>
          <a:p>
            <a:pPr algn="ctr">
              <a:defRPr sz="1700" b="1">
                <a:solidFill>
                  <a:srgbClr val="BE2828"/>
                </a:solidFill>
                <a:latin typeface="Segoe UI"/>
              </a:defRPr>
            </a:pPr>
            <a:r>
              <a:t>VENDORFLOW: AN ENTERPRISE MERN-STACK PROCUREMENT AND SUPPLIER LIFECYCLE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6FC5D-BF4F-E460-3EEE-391DF49B001A}"/>
              </a:ext>
            </a:extLst>
          </p:cNvPr>
          <p:cNvSpPr txBox="1"/>
          <p:nvPr/>
        </p:nvSpPr>
        <p:spPr>
          <a:xfrm>
            <a:off x="0" y="3960062"/>
            <a:ext cx="5084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42EC7-7E23-21B7-68D8-47F81CE16F2B}"/>
              </a:ext>
            </a:extLst>
          </p:cNvPr>
          <p:cNvSpPr txBox="1"/>
          <p:nvPr/>
        </p:nvSpPr>
        <p:spPr>
          <a:xfrm flipH="1">
            <a:off x="7371080" y="3960061"/>
            <a:ext cx="507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  <a:endParaRPr 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4EC4D-7AA6-6A3A-0173-BE88ED5646D4}"/>
              </a:ext>
            </a:extLst>
          </p:cNvPr>
          <p:cNvSpPr txBox="1"/>
          <p:nvPr/>
        </p:nvSpPr>
        <p:spPr>
          <a:xfrm>
            <a:off x="256032" y="4608576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SIVARAM VENUGOPAL  (310624205263)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FDF8DD-EEC7-00F3-C1E0-1D1C9DD01865}"/>
              </a:ext>
            </a:extLst>
          </p:cNvPr>
          <p:cNvSpPr txBox="1"/>
          <p:nvPr/>
        </p:nvSpPr>
        <p:spPr>
          <a:xfrm>
            <a:off x="8221472" y="4608576"/>
            <a:ext cx="337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Dr. S. BERLIN SHAMEEMA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11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CONTENTS (1ST REVIEW)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  <a:latin typeface="Segoe UI"/>
              </a:defRPr>
            </a:pPr>
            <a:r>
              <a:t>o  Project Overview &amp; Review-1 Objectives Recap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System Architecture &amp; Multi-Tier Data Flow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Database Schema Design &amp; Mongoose Modeling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Role-Based Access Control (RBAC) &amp; Security Pipeline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Core Engine 1: Deterministic PO Finite State Machine (FSM)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Core Engine 2: 4-Pillar Supplier Evaluation Scorecard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Technology Stack &amp; Implementation Environment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Prototype Implementation: Purchase Order Lifecycle Engine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Prototype Implementation: Supplier Onboarding &amp; Scorecard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Verification, Testing &amp; Immutable Audit Trail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Work Completed vs Next Milestones (Future Scope)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t>o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PROJECT OVERVIEW &amp; REVIEW-1 OBJECTIVES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609344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  <a:latin typeface="Segoe UI"/>
              </a:defRPr>
            </a:pPr>
            <a:r>
              <a:t>▪  The Problem: Conventional procurement in growing enterprises relies heavily on disconnected spreadsheets, unmonitored email approvals, and manual invoice reconciliation. This introduces data silos, maverick spending, delayed deliveries, and severe tax compliance risks.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The Solution (VendorFlow): A centralized, role-gated web platform built on the MERN stack (MongoDB, Express.js, React.js, Node.js) that automates the complete Procure-to-Pay (P2P) lifecycle with absolute transparency.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Key Milestones Targeted for 1st Review: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    • Full transition from conceptual design to a working, full-stack functional prototype.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    • Implementation of an 8-stage deterministic Finite State Machine (FSM) governing PO workflows.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    • Real-time financial calculation engine computing line subtotals and statutory 18% GST.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    • Multi-criteria supplier performance evaluation scoring across 4 weighted operational pillars.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    • Role-Based Access Control (RBAC) isolating Admin, Buyer, and Vendor capabilities via JWT.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SYSTEM ARCHITECTURE &amp; DATA FLOW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414016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  <a:latin typeface="Segoe UI"/>
              </a:defRPr>
            </a:pPr>
            <a:r>
              <a:t>▪  Presentation Layer (Client Tier): Developed using React 18, Vite, and Tailwind CSS. Features dedicated responsive SPAs with role-based routing for Admins, Procurement Buyers, and Suppliers.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Application &amp; Business Logic Tier: Powered by Node.js and Express.js REST API. Enforces a 3-stage pipeline: JWT Authentication Middleware, Validation Controllers, and FSM State Transition Guards.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Data Persistence Tier: Driven by MongoDB Atlas Cloud NoSQL database with Mongoose ODM. Compound indexes ensure sub-100ms query retrieval for vendors, purchase orders, and audit ledgers.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External Integration Layer: Configured with Nodemailer SMTP transport for automated email notifications upon PO creation, manager approval, and dispatch milestones.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End-to-End Execution Flow: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    [Buyer Crafts PO] ➔ [18% GST Auto-Calculated] ➔ [Admin Approval Guard] ➔ [FSM Status: Sent] ➔ [Nodemailer Alert to Vendor] ➔ [Vendor Acknowledges in Portal] ➔ [Audit Log Persisted]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DATABASE SCHEMA &amp; DATA MODELING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822191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User Schema: Encapsulates authentication credentials and RBAC roles (_id, name, email, passwordHash [bcrypt salted 10 rounds], role ['admin' | 'buyer' | 'vendor'], createdAt).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Vendor Schema: Models supplier profile and KYC compliance (companyName, gstin [15-char statutory tax format], pan, category, status ['Pending' | 'Active' | 'Blacklisted'], overallScore [0-100], tierRating).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PurchaseOrder Schema: Core transactional entity referencing Buyer and Vendor (poNumber [unique indexed], vendorId, buyerId, status [8-state enum], items [embedded sub-schema: description, quantity, unitPrice, gstRate=0.18], subtotal, taxAmount, grandTotal, deliveryDate).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Evaluation Schema: Historical performance records (vendorId, qualityScore, deliveryScore, pricingScore, complianceScore, compositeScore, tierAssigned, evaluatedBy, timestamp).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AuditLog Schema: Immutable governance ledger (entityId, entityType, userId, action, fromState, toState, timestamp, clientMetadata).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ROLE-BASED ACCESS CONTROL (RBAC) &amp; SECURITY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419856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Stateless JWT Token Pipeline: Users authenticate via email/password. The server cryptographically signs a JSON Web Token with user claims and role. Tokens are dispatched via Authorization: Bearer headers.</a:t>
            </a:r>
            <a:endParaRPr/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Granular Role Segmentation &amp; Privilege Matrix: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    1. Administrator: Controls platform governance, reviews and approves/rejects vendor KYC applications, monitors fiscal approval limits, and inspects the global audit trail.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    2. Procurement Buyer: Authors purchase orders, inputs dynamic line items, submits orders for approval, and conducts periodic supplier scorecard evaluations.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    3. Supplier (Vendor): Self-service portal to inspect assigned POs, confirm delivery dates, formally acknowledge orders, and view performance scorecard feedback.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t>▪  Zero-Trust Server-Side Guards: verifyToken and authorizeRoles('admin', 'buyer') middleware strictly intercept endpoints, returning HTTP 403 Forbidden before database queries execute.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CORE ENGINE 1: DETERMINISTIC PO STATE MACHINE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017520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The 8-Stage Deterministic Purchase Order Lifecycle: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Draft ➔ Pending Approval ➔ Approved ➔ Sent ➔ Acknowledged ➔ Delivered ➔ Invoiced ➔ Closed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Deterministic State Transition Guards: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Transitions are enforced through a server-side transition lookup dictionary.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Out-of-order execution (e.g., jumping from Draft to Delivered) is strictly rejected with HTTP 400 Bad Request.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Eliminates process bypasses, unauthorized price alterations on approved orders, and status ambiguity.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Automated Financial &amp; Statutory Tax Calculation: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Interactive line calculator computes: Line Total = Quantity × Unit Price.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Automatically computes Subtotal, applies statutory 18% GST (Tax = Subtotal × 0.18), and yields Grand Total.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Orders exceeding INR 50,000 mandate administrative countersignature before dispatch.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Append-Only Audit History: Every transition appends a timestamped history entry and an immutable audit log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CORE ENGINE 2: SUPPLIER EVALUATION SCORECARD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419856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Objective 4-Pillar Quantitative Evaluation Model: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1. Product Quality Conformity (Weight W₁ = 35%): Measures adherence to agreed engineering and material specifications.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2. Delivery Timeliness (Weight W₂ = 30%): Tracks on-time delivery rate against committed PO schedule dates.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3. Pricing Competitiveness (Weight W₃ = 20%): Evaluates quote stability and adherence to agreed commercial rates.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4. Compliance &amp; Responsiveness (Weight W₄ = 15%): Assesses speed of order acknowledgment and statutory KYC validity.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Mathematical Composite Rating Formulation: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Composite Score = (Quality × 0.35) + (Delivery × 0.30) + (Pricing × 0.20) + (Compliance × 0.15)  [0 to 100 Scale]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Autonomous Tier Classification: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Preferred (Score ≥ 85): Prime supplier; prioritized for bulk orders and high-value requisitions.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Approved (Score 70 - 84): Standard qualified supplier meeting baseline operational expectations.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On-Watch (Score 50 - 69): Warning state; restricted to minor orders pending performance improvement.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Blacklisted (Score &lt; 50): Immediate sourcing freeze; system blocks buyers from issuing new purchase orders.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TECHNOLOGY STACK &amp; IMPLEMENTATION TOOLS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414016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Frontend Presentation Tier: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React 18 / 19 SPA: Declarative component architecture for real-time reactivity and state synchronization.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Vite 8.x Bundler: Ultra-fast Hot Module Replacement (HMR) and optimized production asset bundling.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Tailwind CSS &amp; Lucide Icons: Modern corporate UI with responsive white-and-red design tokens.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Backend Application &amp; API Tier: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Node.js (v20.x LTS): High-throughput non-blocking asynchronous event-loop architecture.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Express.js (v4.21): Modular RESTful routing, custom middleware pipelines, and error handling.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JSON Web Token (JWT) &amp; bcryptjs: Cryptographic authentication with 10 salt rounds.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Database &amp; Services Tier: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MongoDB Atlas: Document-oriented cloud database providing rapid horizontal scaling and JSON-native BSON storage.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Mongoose ODM: Schema validation, virtual population, and transactional hooks.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Nodemailer (SMTP): Automated email notification pipeline alerting stakeholders at key order milestones.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PROTOTYPE DEMONSTRATION &amp; CORE MODULES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7242048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latin typeface="Segoe UI"/>
              </a:defRPr>
            </a:pPr>
            <a:r>
              <a:t>▪  Module 1: Interactive Purchase Order Builder:</a:t>
            </a:r>
            <a:endParaRPr/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Dynamic line-item creator allowing instant row addition, deletion, and recalculation.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Auto-calculates quantities, unit rates, statutory 18% GST, and gross totals with zero client-side latency.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Live vendor selector displaying current vendor tier badge and active contact details.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Module 2: Supplier Onboarding &amp; KYC Management: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Dedicated modal for onboarding supplier companies with PAN and 15-character GSTIN format validation.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Manages supplier status transitions across Pending, Active, Inactive, and Blacklisted states.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Module 3: Purchase Order Lifecycle Tracker: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Visual timeline stepper showing real-time milestone progress from Draft to Closed.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Status-dependent action buttons (e.g., 'Submit for Approval', 'Send to Vendor', 'Acknowledge Order').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▪  Module 4: Supplier Performance Analytics:</a:t>
            </a:r>
          </a:p>
          <a:p>
            <a:pPr>
              <a:spcAft>
                <a:spcPts val="800"/>
              </a:spcAft>
              <a:defRPr sz="1350">
                <a:latin typeface="Segoe UI"/>
              </a:defRPr>
            </a:pPr>
            <a:r>
              <a:t>    • Multi-criteria scorecard visualizer presenting pillar metrics and automated tier classification badges.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TESTING, VERIFICATION &amp; AUDIT TRAIL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4224528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3749039"/>
          </a:xfrm>
          <a:prstGeom prst="roundRect">
            <a:avLst/>
          </a:prstGeom>
          <a:solidFill>
            <a:srgbClr val="E6F2FF"/>
          </a:solidFill>
          <a:ln w="25400">
            <a:solidFill>
              <a:srgbClr val="46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1E1E"/>
                </a:solidFill>
                <a:latin typeface="Segoe UI"/>
              </a:defRPr>
            </a:pPr>
            <a:r>
              <a:t>API ROUTE TESTING</a:t>
            </a:r>
            <a:br/>
            <a:r>
              <a:t>Verified all REST endpoints (/auth, /orders, /vendors, /evaluations) across 25+ Postman test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280160"/>
            <a:ext cx="2011680" cy="3749039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D2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1E1E"/>
                </a:solidFill>
                <a:latin typeface="Segoe UI"/>
              </a:defRPr>
            </a:pPr>
            <a:r>
              <a:t>FSM STATE GUARDS</a:t>
            </a:r>
            <a:br/>
            <a:r>
              <a:t>Tested illegal transition rejection (e.g., Draft -&gt; Delivered rejected with HTTP 400).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280160"/>
            <a:ext cx="2011680" cy="3749039"/>
          </a:xfrm>
          <a:prstGeom prst="roundRect">
            <a:avLst/>
          </a:prstGeom>
          <a:solidFill>
            <a:srgbClr val="E6FAEB"/>
          </a:solidFill>
          <a:ln w="25400">
            <a:solidFill>
              <a:srgbClr val="32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1E1E"/>
                </a:solidFill>
                <a:latin typeface="Segoe UI"/>
              </a:defRPr>
            </a:pPr>
            <a:r>
              <a:t>TAX COMPUTATION</a:t>
            </a:r>
            <a:br/>
            <a:r>
              <a:t>Verified line-item aggregation and 18% GST calculation across fractional quantities and prices.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280160"/>
            <a:ext cx="2011680" cy="3749039"/>
          </a:xfrm>
          <a:prstGeom prst="roundRect">
            <a:avLst/>
          </a:prstGeom>
          <a:solidFill>
            <a:srgbClr val="FFEBF2"/>
          </a:solidFill>
          <a:ln w="25400">
            <a:solidFill>
              <a:srgbClr val="B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1E1E"/>
                </a:solidFill>
                <a:latin typeface="Segoe UI"/>
              </a:defRPr>
            </a:pPr>
            <a:r>
              <a:t>SECURITY &amp; RBAC</a:t>
            </a:r>
            <a:br/>
            <a:r>
              <a:t>Tested expired tokens, header tampering rejection, and role privilege boundary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280160"/>
            <a:ext cx="2011680" cy="3749039"/>
          </a:xfrm>
          <a:prstGeom prst="roundRect">
            <a:avLst/>
          </a:prstGeom>
          <a:solidFill>
            <a:srgbClr val="F2F2F8"/>
          </a:solidFill>
          <a:ln w="25400">
            <a:solidFill>
              <a:srgbClr val="6E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1E1E"/>
                </a:solidFill>
                <a:latin typeface="Segoe UI"/>
              </a:defRPr>
            </a:pPr>
            <a:r>
              <a:t>AUDIT TRAIL LOGGING</a:t>
            </a:r>
            <a:br/>
            <a:r>
              <a:t>Confirmed append-only logging of userId, action, timestamp, and state diffs for all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11277295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5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60554D"/>
                </a:solidFill>
                <a:latin typeface="Segoe UI"/>
              </a:defRPr>
            </a:pPr>
            <a:r>
              <a:t>MILESTONE STATUS (1ST REVIEW): Core Full-Stack Prototype is 100% Implemented &amp; Verified with Zero Compile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554D"/>
                </a:solidFill>
                <a:latin typeface="Segoe UI"/>
              </a:defRPr>
            </a:pPr>
            <a:r>
              <a:t>FUTURE SCOPE, MILESTONES &amp; REFERENCES 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414016" cy="36576"/>
          </a:xfrm>
          <a:prstGeom prst="rect">
            <a:avLst/>
          </a:prstGeom>
          <a:solidFill>
            <a:srgbClr val="A0968C"/>
          </a:solidFill>
          <a:ln>
            <a:solidFill>
              <a:srgbClr val="A0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▪  Work Completed (Review-1 Milestone):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• Full-stack MERN architecture established and deployed locally with Vite + Express + MongoDB Atlas.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• Role-based authentication and secure session handling active for Admin, Buyer, and Vendor roles.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• 8-Stage deterministic PO Finite State Machine and automated 18% GST calculation engine functional.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• Supplier onboarding, KYC validation, and 4-pillar weighted scorecard operational.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▪  Future Scope (Next Milestones for 2nd / Final Review):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1. Automated OCR Invoice Parsing: Integrating optical character recognition (Tesseract / Document AI) to auto-extract line items from uploaded supplier invoice PDFs (Three-Way Matching).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2. Real-Time WebSockets (Socket.io): Replacing polling with instant bi-directional push alerts for PO status changes.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3. Corporate Banking / Accounting Integration: Direct webhook integrations for automated payment clearing.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▪  Key References: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• Chopra, S., &amp; Meindl, P. (2016). Supply Chain Management: Strategy, Planning, and Operation. Pearson.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• Monczka, R. M., et al. (2020). Purchasing and Supply Chain Management. Cengage Learning.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t>    • Fowler, M. (2018). Patterns of Enterprise Application Architecture. Addison-Wesley.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1420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Bell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Sivaram v</cp:lastModifiedBy>
  <cp:revision>2</cp:revision>
  <dcterms:created xsi:type="dcterms:W3CDTF">2013-01-27T09:14:16Z</dcterms:created>
  <dcterms:modified xsi:type="dcterms:W3CDTF">2026-09-15T03:17:10Z</dcterms:modified>
  <cp:category/>
</cp:coreProperties>
</file>