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VENDORFLOW : ENTERPRISE PROCUREMENT SYSTEM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Project Work (Phase-I) — Review 1 &amp; 2  |  Department of Information Technology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50"/>
              </a:spcAft>
              <a:buSzPct val="100000"/>
              <a:buChar char="▪"/>
              <a:defRPr sz="1000" b="1">
                <a:solidFill>
                  <a:srgbClr val="334155"/>
                </a:solidFill>
                <a:latin typeface="Segoe UI"/>
              </a:defRPr>
            </a:pPr>
            <a:r>
              <a:t>• Project Requirements &amp; Scope Definition</a:t>
            </a:r>
            <a:endParaRPr lang="en-US" sz="1400" dirty="0"/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Three-Tier System Architecture &amp; Data Flow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UML Use Case Model &amp; Actor Interactions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MongoDB Entity-Relationship (ER) Schema Design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Core Module Breakdown &amp; Role-Based Access Control (RBAC)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Full MERN Technology Stack &amp; Implementation Frameworks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UI Design, User Interaction &amp; Process Workflows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Frontend Component Architecture &amp; Client State Management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Backend REST API Architecture &amp; FSM Transition Engine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Database Modeling, Indexing &amp; Collections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Implementation Status &amp; Module Completion Table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Live Application Screenshots &amp; Demonstration Slots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Engineering Challenges Encountered &amp; Solutions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Future Milestones &amp; Project References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Role-Based Access: Secure JWT authentication separating Admin, Buyer, and Vendor access.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KYC Onboarding: Automated verification for trade details, PAN, and 15-digit GSTIN.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Dynamic Purchase Order Builder: Real-time calculation of item subtotals and 18% statutory GST.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Strict State Machine (FSM): 8-stage linear workflow (Draft to Closed) with no illegal skipping.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Performance Scorecard: Automated rating across Quality, Delivery, Price, and Compliance.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Audit Ledger: Append-only event history tracking every action, user ID, and state change.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Performance: Sub-100ms database response using targeted compound indexes.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Security: Passwords hashed with </a:t>
            </a:r>
            <a:r>
              <a:rPr dirty="0" err="1"/>
              <a:t>bcrypt</a:t>
            </a:r>
            <a:r>
              <a:rPr dirty="0"/>
              <a:t> (10 rounds); routes protected by Bearer token guards.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Transactional Safety: Strict transition checks prevent out-of-sequence order updates.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Interface Ergonomics: Clean, accessible interface built with Tailwind CSS and responsive components.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High Availability: Cloud-native database hosting on MongoDB Atlas with automatic failover.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Maintainability: Modular MVC code structure separating routes, controllers, and models.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VendorFlow MERN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23" name="Picture 22" descr="figure_4_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371600"/>
            <a:ext cx="10058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Authentication &amp; RBAC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Issues stateless JWT tokens, verifies roles, and hashes passwords via bcrypt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register, login, verifyToken, authorizeRoles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Vendor Onboarding &amp; KYC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Handles supplier registration, tax document checks (PAN &amp; GSTIN), and status approval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createVendor, verifyTaxId, updateVendorStatus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 Lifecycle &amp; FSM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Manages the 8-stage state machine, dynamic line items, and automated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createPO, calculateTotals, updatePOStatus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 vendors across 4 weighted operational pillars and assigns performance tiers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evaluateSupplier, getVendorRating, updateTier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Notifications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Maintains an immutable change log and dispatches email alerts at critical milestones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logAuditEvent, sendPODispatchAlert, sendApprovalAlert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MongoDB Atlas: Cloud document database with compound indexing and native JSON/BSON storage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Express.js: Lightweight backend web framework providing modular REST routes and middleware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React 18 / Vite: Fast, component-driven client application with responsive state reactivity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Node.js (v20 LTS): Non-blocking asynchronous runtime executing high-concurrency event loops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  <a:defRPr sz="900"/>
            </a:pPr>
            <a:r>
              <a:rPr sz="1200" dirty="0"/>
              <a:t>• Mongoose (ODM with validation &amp; </a:t>
            </a:r>
            <a:r>
              <a:rPr sz="1200" dirty="0" err="1"/>
              <a:t>virtuals</a:t>
            </a:r>
            <a:r>
              <a:rPr sz="1200" dirty="0"/>
              <a:t>)</a:t>
            </a:r>
            <a:endParaRPr lang="en-US" sz="1200" dirty="0"/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JWT &amp; </a:t>
            </a:r>
            <a:r>
              <a:rPr sz="1200" dirty="0" err="1"/>
              <a:t>bcryptjs</a:t>
            </a:r>
            <a:r>
              <a:rPr sz="1200" dirty="0"/>
              <a:t> (Token auth &amp; 10 salt rounds)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Tailwind CSS &amp; </a:t>
            </a:r>
            <a:r>
              <a:rPr sz="1200" dirty="0" err="1"/>
              <a:t>Lucide</a:t>
            </a:r>
            <a:r>
              <a:rPr sz="1200" dirty="0"/>
              <a:t> (Modern UI tokens)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</a:t>
            </a:r>
            <a:r>
              <a:rPr sz="1200" dirty="0" err="1"/>
              <a:t>Nodemailer</a:t>
            </a:r>
            <a:r>
              <a:rPr sz="1200" dirty="0"/>
              <a:t> (SMTP email notification engine)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Axios (HTTP client with auth interceptors)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Postman &amp; Overleaf (API tests &amp; project thesis</a:t>
            </a:r>
            <a:r>
              <a:rPr dirty="0"/>
              <a:t>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figure_4_3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Single Page Application: Built with React 18 and Vite for fast builds and immediate Hot Module Replacement.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Reusable Components: Modular UI components including </a:t>
            </a:r>
            <a:r>
              <a:rPr dirty="0" err="1"/>
              <a:t>POBuilder</a:t>
            </a:r>
            <a:r>
              <a:rPr dirty="0"/>
              <a:t>, </a:t>
            </a:r>
            <a:r>
              <a:rPr dirty="0" err="1"/>
              <a:t>VendorList</a:t>
            </a:r>
            <a:r>
              <a:rPr dirty="0"/>
              <a:t>, </a:t>
            </a:r>
            <a:r>
              <a:rPr dirty="0" err="1"/>
              <a:t>ScorecardCard</a:t>
            </a:r>
            <a:r>
              <a:rPr dirty="0"/>
              <a:t>, and </a:t>
            </a:r>
            <a:r>
              <a:rPr dirty="0" err="1"/>
              <a:t>StateStepper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Live Calculation Hooks: Automatically recalculates line totals, statutory 18% GST, and overall expenditure in real time.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Role-Protected Routes: React Router v6 guards block unauthorized users from accessing pages outside their assigned role.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API Communication: Axios handles API requests with interceptors that attach the JWT token to every outbound header.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Clean Corporate Styling: Tailored with Tailwind CSS using consistent white-and-red design tokens and </a:t>
            </a:r>
            <a:r>
              <a:rPr dirty="0" err="1"/>
              <a:t>Lucide</a:t>
            </a:r>
            <a:r>
              <a:rPr dirty="0"/>
              <a:t> icons.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 the actual pages/components completed so far, e.g. Login, Dashboard, Profile, Item List.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  <a:defRPr sz="1050">
                <a:latin typeface="Segoe UI"/>
              </a:defRPr>
            </a:pPr>
            <a:r>
              <a:t>• MVC Architecture: Node.js and Express server organized into separate routes, controllers, models, and middleware.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Modular Endpoints: Distinct routers manage authentication, purchase orders, vendor profiles, and audit logging.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Deterministic FSM Engine: Server-side validation table guarantees orders only progress through legal states (Draft to Closed).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Token-Based Security: Generates signed JSON Web Tokens for sessions and salts passwords with bcrypt (10 rounds).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Route Protection: verifyToken and authorizeRoles middleware verify permissions before controllers execute any logic.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Centralized Error Handling: Custom error middleware catches validation issues and returns clear JSON error messages.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mention specific middleware, validation library, or error-handling strategy you used.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Cloud-Hosted Database: Runs on MongoDB Atlas, providing automated backups, scalability, and JSON-native BSON storage.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Mongoose Schemas: Data models defined with schema-level validation for Users, Vendors, </a:t>
            </a:r>
            <a:r>
              <a:rPr dirty="0" err="1"/>
              <a:t>PurchaseOrders</a:t>
            </a:r>
            <a:r>
              <a:rPr dirty="0"/>
              <a:t>, Evaluations, and Logs.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Clear Entity Relationships: Leverages MongoDB </a:t>
            </a:r>
            <a:r>
              <a:rPr dirty="0" err="1"/>
              <a:t>ObjectId</a:t>
            </a:r>
            <a:r>
              <a:rPr dirty="0"/>
              <a:t> references to connect orders with buyers and suppliers cleanly.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Embedded Sub-Documents: Line items and status histories are stored directly inside the order document for atomic updates.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Query Performance: Compound indexes on frequently queried fields like { </a:t>
            </a:r>
            <a:r>
              <a:rPr dirty="0" err="1"/>
              <a:t>vendorId</a:t>
            </a:r>
            <a:r>
              <a:rPr dirty="0"/>
              <a:t>: 1, status: 1 } ensure sub-100ms lookups.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Audit Traceability: Append-only collection logs user IDs, action names, timestamps, and previous/new states for all changes.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name your actual collections (e.g. Users, Products, Orders) here.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Authenticates user credentials and returns a signed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Creates a new purchase order with automatic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/api/orders/:id/status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Validates and transitions order state, recording an audit log entry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/api/vendors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Onboards a new supplier with PAN and statutory 15-char GSTIN checks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/api/evaluations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Submits performance scores across 4 pillars and updates the vendor 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/api/audit-logs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Fetches immutable system audit records filtered by entity or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05840" y="1463040"/>
          <a:ext cx="10149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Implementation Deliverables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User Authentication &amp;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Stateless JWT token pipeline, role-based route guards for Admin, Buyer, and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Verified via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Purchase Order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Dynamic line-item creation, real-time subtotal and statutory 18% GST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End-to-End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FSM State Machine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8-stage linear workflow (Draft to Closed) with server-side transition lookup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Guard Tests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KYC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Self-service onboarding modal, PAN and 15-character GSTIN format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Functional in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Objective 4-pillar weighted evaluation model with automated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Algorithm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Email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Append-only change ledger with Nodemailer SMTP dispatch for order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70%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SMTP Pipeline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800000" y="1600000"/>
            <a:ext cx="50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Calibri"/>
              </a:defRPr>
            </a:pPr>
            <a:r>
              <a:t>Interactive PO Builder &amp; 18% GST Engine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Automated requisition creation with real-time statutory CGST (9%) + SGST (9%) calculation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000" y="2235000"/>
            <a:ext cx="5080000" cy="2771238"/>
          </a:xfrm>
          <a:prstGeom prst="roundRect">
            <a:avLst/>
          </a:prstGeom>
          <a:noFill/>
          <a:ln w="12700">
            <a:solidFill>
              <a:srgbClr val="C0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 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" y="2250000"/>
            <a:ext cx="5050000" cy="27412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1600000"/>
            <a:ext cx="50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Calibri"/>
              </a:defRPr>
            </a:pPr>
            <a:r>
              <a:t>4-Pillar Supplier Scorecard &amp; Radar Trends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Dynamic vendor performance tracking across Quality, Delivery, Pricing &amp;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5000" y="2235000"/>
            <a:ext cx="5080000" cy="2566123"/>
          </a:xfrm>
          <a:prstGeom prst="roundRect">
            <a:avLst/>
          </a:prstGeom>
          <a:noFill/>
          <a:ln w="12700">
            <a:solidFill>
              <a:srgbClr val="C0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upplier Scor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250000"/>
            <a:ext cx="5050000" cy="25361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Preventing unauthorized order state leaps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Enforced a server-side finite state machine dictionary that strictly blocks invalid transitions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Accurate real-time tax calculation during drafting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Implemented custom React hooks to compute item subtotals and 18% GST synchronously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Eliminating subjective vendor performance reviews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Formulated an objective weighted scorecard combining Quality (35%), Delivery (30%), Price (20%), and Compliance (15%)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Aligning frontend form data with Mongoose schemas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Normalized property names (vendorId, deliveryDate) across client DTOs and server validators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  <a:defRPr sz="1050">
                <a:latin typeface="Segoe UI"/>
              </a:defRPr>
            </a:pPr>
            <a:r>
              <a:rPr dirty="0"/>
              <a:t>• Automated OCR Invoice Matching: Integrate Tesseract / Document AI to extract data from uploaded invoice PDFs and verify three-way matching against purchase orders.</a:t>
            </a:r>
            <a:endParaRPr lang="en-US" sz="1500" dirty="0"/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Real-Time </a:t>
            </a:r>
            <a:r>
              <a:rPr dirty="0" err="1"/>
              <a:t>WebSockets</a:t>
            </a:r>
            <a:r>
              <a:rPr dirty="0"/>
              <a:t>: Connect client and server via Socket.io for instantaneous alerts when an order is approved or acknowledged, avoiding manual refreshes.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Banking &amp; Payment Integration: Implement corporate payment webhooks to automate disbursements once goods receipts and invoices are reconciled.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Predictive Spend Analytics: Add lightweight forecasting models to help procurement buyers anticipate seasonal demand and negotiate bulk discounts.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Cloud Production Deployment: Deploy the React frontend to </a:t>
            </a:r>
            <a:r>
              <a:rPr dirty="0" err="1"/>
              <a:t>Vercel</a:t>
            </a:r>
            <a:r>
              <a:rPr dirty="0"/>
              <a:t> and the Express backend to Render, backed by a production MongoDB Atlas cluster.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Chopra, S., &amp; Meindl, P. (2016). Supply Chain Management: Strategy, Planning, and Operation, 6th ed., Pearson Education.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Monczka, R. M., et al. (2020). Purchasing and Supply Chain Management, 7th ed., Cengage Learning, Boston.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Fowler, M. (2018). Patterns of Enterprise Application Architecture, Addison-Wesley Professional.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Goods and Services Tax Network (GSTN), Ministry of Finance, Govt of India (2023). Standard Operating Procedures for Invoicing.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1821</Words>
  <Application>Microsoft Office PowerPoint</Application>
  <PresentationFormat>Widescreen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Sivaram v</cp:lastModifiedBy>
  <cp:revision>3</cp:revision>
  <dcterms:created xsi:type="dcterms:W3CDTF">2026-09-22T17:17:28Z</dcterms:created>
  <dcterms:modified xsi:type="dcterms:W3CDTF">2026-10-14T03:55:56Z</dcterms:modified>
</cp:coreProperties>
</file>